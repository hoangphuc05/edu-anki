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4" d="100"/>
          <a:sy n="94" d="100"/>
        </p:scale>
        <p:origin x="427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39303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B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-1188720"/>
            <a:ext cx="4754880" cy="4754880"/>
          </a:xfrm>
          <a:prstGeom prst="ellipse">
            <a:avLst/>
          </a:prstGeom>
          <a:solidFill>
            <a:srgbClr val="072A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966960" y="-457200"/>
            <a:ext cx="3291840" cy="3291840"/>
          </a:xfrm>
          <a:prstGeom prst="ellipse">
            <a:avLst/>
          </a:prstGeom>
          <a:solidFill>
            <a:srgbClr val="028090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2331720"/>
            <a:ext cx="8686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kern="0" spc="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EDUSPACED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77240" y="324612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Goal &amp; Management Plan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77240" y="3977640"/>
            <a:ext cx="2194560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77240" y="4160520"/>
            <a:ext cx="7589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FE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spaced-repetition study platform built on TypeScript, React, and the FSRS scheduling algorithm.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FC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Roadmap Overview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332720" y="651052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FC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EduSpaced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GOAL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studying stick, automatically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6035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3A4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EduSpaced is a flashcard app that schedules every review using the </a:t>
            </a:r>
            <a:r>
              <a:rPr lang="en-US" sz="14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FSRS algorithm</a:t>
            </a:r>
            <a:r>
              <a:rPr lang="en-US" sz="1450" dirty="0">
                <a:solidFill>
                  <a:srgbClr val="3A4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(via ts-fsrs), so learners see each card exactly when they're about to forget it — not too soon, not too late.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3063240"/>
            <a:ext cx="502920" cy="502920"/>
          </a:xfrm>
          <a:prstGeom prst="ellipse">
            <a:avLst/>
          </a:prstGeom>
          <a:solidFill>
            <a:srgbClr val="E6F2F0"/>
          </a:solidFill>
          <a:ln w="1905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3063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34440" y="3008376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3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wasted review time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3310128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cards only when memory is about to decay, not on a fixed calendar.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4023360"/>
            <a:ext cx="502920" cy="502920"/>
          </a:xfrm>
          <a:prstGeom prst="ellipse">
            <a:avLst/>
          </a:prstGeom>
          <a:solidFill>
            <a:srgbClr val="E6F2F0"/>
          </a:solidFill>
          <a:ln w="1905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34440" y="3968496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3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loop lightweight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34440" y="4270248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 → Study → Rate → Next card, with optimistic UI for a snappy feel.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4983480"/>
            <a:ext cx="502920" cy="502920"/>
          </a:xfrm>
          <a:prstGeom prst="ellipse">
            <a:avLst/>
          </a:prstGeom>
          <a:solidFill>
            <a:srgbClr val="E6F2F0"/>
          </a:solidFill>
          <a:ln w="1905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48640" y="4983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34440" y="4928616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3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 groundwork for V2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34440" y="5230368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full review history from day one so analytics and AI features need no rework.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040880" y="1554480"/>
            <a:ext cx="4572000" cy="4297680"/>
          </a:xfrm>
          <a:prstGeom prst="roundRect">
            <a:avLst>
              <a:gd name="adj" fmla="val 2553"/>
            </a:avLst>
          </a:prstGeom>
          <a:solidFill>
            <a:srgbClr val="0B3B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406640" y="18745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SPACED REPETITION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406640" y="2194560"/>
            <a:ext cx="3840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FE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Reviewing at the right interval can cut total study time while improving long-term recall.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406640" y="3063240"/>
            <a:ext cx="1280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7406640" y="37033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FE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decks +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FE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scheduling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418320" y="3063240"/>
            <a:ext cx="1280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V2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9418320" y="37033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FE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AI-generated cards +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FE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weak-deck insights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406640" y="4526280"/>
            <a:ext cx="3840480" cy="0"/>
          </a:xfrm>
          <a:prstGeom prst="line">
            <a:avLst/>
          </a:prstGeom>
          <a:noFill/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406640" y="4709160"/>
            <a:ext cx="3840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CFE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engine: ts-fsrs, wrapped in a dedicated srs-engine package for easy testing and mocking.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Project Goal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332720" y="651052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EduSpaced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3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monorepo, shared types end to end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and Express live in one workspace so TypeScript interfaces and Zod schemas are written once and shared by both.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2542032" cy="1874520"/>
          </a:xfrm>
          <a:prstGeom prst="roundRect">
            <a:avLst>
              <a:gd name="adj" fmla="val 3902"/>
            </a:avLst>
          </a:prstGeom>
          <a:solidFill>
            <a:srgbClr val="F2F8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13232" y="213055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13232" y="21305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13232" y="2679192"/>
            <a:ext cx="22128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50" dirty="0">
                <a:solidFill>
                  <a:srgbClr val="6B7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13232" y="2916936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3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 + Vite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13232" y="3291840"/>
            <a:ext cx="22128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A4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HMR and modern build tooling for the study UI.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55264" y="1965960"/>
            <a:ext cx="2542032" cy="1874520"/>
          </a:xfrm>
          <a:prstGeom prst="roundRect">
            <a:avLst>
              <a:gd name="adj" fmla="val 3902"/>
            </a:avLst>
          </a:prstGeom>
          <a:solidFill>
            <a:srgbClr val="F2F8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419856" y="213055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419856" y="21305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419856" y="2679192"/>
            <a:ext cx="22128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50" dirty="0">
                <a:solidFill>
                  <a:srgbClr val="6B7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STYLING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19856" y="2916936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3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Tailwind CSS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419856" y="3291840"/>
            <a:ext cx="22128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A4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 classes for rapid, consistent UI work.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61888" y="1965960"/>
            <a:ext cx="2542032" cy="1874520"/>
          </a:xfrm>
          <a:prstGeom prst="roundRect">
            <a:avLst>
              <a:gd name="adj" fmla="val 3902"/>
            </a:avLst>
          </a:prstGeom>
          <a:solidFill>
            <a:srgbClr val="F2F8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126480" y="213055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126480" y="21305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126480" y="2679192"/>
            <a:ext cx="22128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50" dirty="0">
                <a:solidFill>
                  <a:srgbClr val="6B7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126480" y="2916936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3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Node.js + Express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126480" y="3291840"/>
            <a:ext cx="22128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A4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Industry-standard server with a large middleware ecosystem.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668512" y="1965960"/>
            <a:ext cx="2542032" cy="1874520"/>
          </a:xfrm>
          <a:prstGeom prst="roundRect">
            <a:avLst>
              <a:gd name="adj" fmla="val 3902"/>
            </a:avLst>
          </a:prstGeom>
          <a:solidFill>
            <a:srgbClr val="F2F8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8833104" y="213055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8833104" y="21305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833104" y="2679192"/>
            <a:ext cx="22128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50" dirty="0">
                <a:solidFill>
                  <a:srgbClr val="6B7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833104" y="2916936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3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Zod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833104" y="3291840"/>
            <a:ext cx="22128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A4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schema validates API input on client and server.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48640" y="4005072"/>
            <a:ext cx="2542032" cy="1874520"/>
          </a:xfrm>
          <a:prstGeom prst="roundRect">
            <a:avLst>
              <a:gd name="adj" fmla="val 3902"/>
            </a:avLst>
          </a:prstGeom>
          <a:solidFill>
            <a:srgbClr val="E6F2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713232" y="41696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13232" y="41696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13232" y="4718304"/>
            <a:ext cx="22128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50" dirty="0">
                <a:solidFill>
                  <a:srgbClr val="6B7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ORM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13232" y="4956048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3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Prisma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713232" y="5330952"/>
            <a:ext cx="22128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A4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Type-safe queries, migrations, strong SQLite support.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255264" y="4005072"/>
            <a:ext cx="2542032" cy="1874520"/>
          </a:xfrm>
          <a:prstGeom prst="roundRect">
            <a:avLst>
              <a:gd name="adj" fmla="val 3902"/>
            </a:avLst>
          </a:prstGeom>
          <a:solidFill>
            <a:srgbClr val="E6F2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3419856" y="41696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3419856" y="41696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19856" y="4718304"/>
            <a:ext cx="22128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50" dirty="0">
                <a:solidFill>
                  <a:srgbClr val="6B7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419856" y="4956048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3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SQLite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3419856" y="5330952"/>
            <a:ext cx="22128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A4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Zero-config, file-based — right-sized for a semester project.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961888" y="4005072"/>
            <a:ext cx="2542032" cy="1874520"/>
          </a:xfrm>
          <a:prstGeom prst="roundRect">
            <a:avLst>
              <a:gd name="adj" fmla="val 3902"/>
            </a:avLst>
          </a:prstGeom>
          <a:solidFill>
            <a:srgbClr val="E6F2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6126480" y="41696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6126480" y="41696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126480" y="4718304"/>
            <a:ext cx="22128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50" dirty="0">
                <a:solidFill>
                  <a:srgbClr val="6B7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SRS ENGINE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126480" y="4956048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3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ts-fsrs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6126480" y="5330952"/>
            <a:ext cx="22128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A4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Calculates review schedules with the FSRS algorithm.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8668512" y="4005072"/>
            <a:ext cx="2542032" cy="1874520"/>
          </a:xfrm>
          <a:prstGeom prst="roundRect">
            <a:avLst>
              <a:gd name="adj" fmla="val 3902"/>
            </a:avLst>
          </a:prstGeom>
          <a:solidFill>
            <a:srgbClr val="E6F2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8833104" y="41696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8833104" y="41696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8833104" y="4718304"/>
            <a:ext cx="22128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50" dirty="0">
                <a:solidFill>
                  <a:srgbClr val="6B7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FETCHING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833104" y="4956048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3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TanStack Query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8833104" y="5330952"/>
            <a:ext cx="22128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A4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caching, loading state, and background refetch.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— Technology Stack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10332720" y="651052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EduSpaced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3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phases, eight weeks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724912" cy="4160520"/>
          </a:xfrm>
          <a:prstGeom prst="roundRect">
            <a:avLst>
              <a:gd name="adj" fmla="val 3356"/>
            </a:avLst>
          </a:prstGeom>
          <a:solidFill>
            <a:srgbClr val="F2F8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892808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18928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80160" y="1892808"/>
            <a:ext cx="1810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B7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1–2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468880"/>
            <a:ext cx="23591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3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3017520"/>
            <a:ext cx="23591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A4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Monorepo + Prisma schema + Express boilerplate, JWT auth, Deck/Card CRUD.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31520" y="4572000"/>
            <a:ext cx="2359152" cy="0"/>
          </a:xfrm>
          <a:prstGeom prst="line">
            <a:avLst/>
          </a:prstGeom>
          <a:noFill/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31520" y="4709160"/>
            <a:ext cx="235915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731520" y="4937760"/>
            <a:ext cx="235915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3A4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can create decks and add cards manually.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83280" y="1691640"/>
            <a:ext cx="2724912" cy="4160520"/>
          </a:xfrm>
          <a:prstGeom prst="roundRect">
            <a:avLst>
              <a:gd name="adj" fmla="val 3356"/>
            </a:avLst>
          </a:prstGeom>
          <a:solidFill>
            <a:srgbClr val="F2F8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566160" y="1892808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566160" y="18928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114800" y="1892808"/>
            <a:ext cx="1810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B7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3–4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566160" y="2468880"/>
            <a:ext cx="23591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3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Study Engine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566160" y="3017520"/>
            <a:ext cx="23591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A4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ts-fsrs, build /study/due and /study/review, ship the React study session.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566160" y="4572000"/>
            <a:ext cx="2359152" cy="0"/>
          </a:xfrm>
          <a:prstGeom prst="line">
            <a:avLst/>
          </a:prstGeom>
          <a:noFill/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566160" y="4709160"/>
            <a:ext cx="235915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566160" y="4937760"/>
            <a:ext cx="235915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3A4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complete — studying works and dates update automatically.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17920" y="1691640"/>
            <a:ext cx="2724912" cy="4160520"/>
          </a:xfrm>
          <a:prstGeom prst="roundRect">
            <a:avLst>
              <a:gd name="adj" fmla="val 3356"/>
            </a:avLst>
          </a:prstGeom>
          <a:solidFill>
            <a:srgbClr val="F2F8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400800" y="1892808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400800" y="18928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949440" y="1892808"/>
            <a:ext cx="1810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B7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5–6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00800" y="2468880"/>
            <a:ext cx="23591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3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Polish &amp; Analytics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400800" y="3017520"/>
            <a:ext cx="23591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A4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CSV/JSON import-export, Recharts dashboard, full regression pass.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0" y="4572000"/>
            <a:ext cx="2359152" cy="0"/>
          </a:xfrm>
          <a:prstGeom prst="line">
            <a:avLst/>
          </a:prstGeom>
          <a:noFill/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400800" y="4709160"/>
            <a:ext cx="235915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400800" y="4937760"/>
            <a:ext cx="235915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3A4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Final Release.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9052560" y="1691640"/>
            <a:ext cx="2724912" cy="4160520"/>
          </a:xfrm>
          <a:prstGeom prst="roundRect">
            <a:avLst>
              <a:gd name="adj" fmla="val 3356"/>
            </a:avLst>
          </a:prstGeom>
          <a:solidFill>
            <a:srgbClr val="0B3B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9235440" y="1892808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9235440" y="18928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784080" y="1892808"/>
            <a:ext cx="1810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FE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7–8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235440" y="2468880"/>
            <a:ext cx="23591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Adaptive Features (V2)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9235440" y="3017520"/>
            <a:ext cx="23591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FE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Weak-deck recommendations; LLM integration to generate cards from text.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9235440" y="4572000"/>
            <a:ext cx="2359152" cy="0"/>
          </a:xfrm>
          <a:prstGeom prst="line">
            <a:avLst/>
          </a:prstGeom>
          <a:noFill/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9235440" y="4709160"/>
            <a:ext cx="235915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5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9235440" y="4937760"/>
            <a:ext cx="235915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FE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Release with smart suggestions and AI assistance.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— Development Roadmap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0332720" y="651052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EduSpaced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test pyramid, not a testing afterthought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286000" y="1691640"/>
            <a:ext cx="2011680" cy="960120"/>
          </a:xfrm>
          <a:prstGeom prst="roundRect">
            <a:avLst>
              <a:gd name="adj" fmla="val 5714"/>
            </a:avLst>
          </a:prstGeom>
          <a:solidFill>
            <a:srgbClr val="0B3B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286000" y="1801368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E2E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286000" y="21945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4F4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645920" y="2926080"/>
            <a:ext cx="3291840" cy="960120"/>
          </a:xfrm>
          <a:prstGeom prst="roundRect">
            <a:avLst>
              <a:gd name="adj" fmla="val 5714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645920" y="303580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645920" y="34290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4F4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Supertest + in-memory SQLite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14400" y="4160520"/>
            <a:ext cx="4754880" cy="960120"/>
          </a:xfrm>
          <a:prstGeom prst="roundRect">
            <a:avLst>
              <a:gd name="adj" fmla="val 5714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14400" y="4270248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466344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4F4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Jest / Vitest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43600" y="1920240"/>
            <a:ext cx="128016" cy="128016"/>
          </a:xfrm>
          <a:prstGeom prst="ellipse">
            <a:avLst/>
          </a:prstGeom>
          <a:solidFill>
            <a:srgbClr val="0B3B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217920" y="1691640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tests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17920" y="2011680"/>
            <a:ext cx="5394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user journey: login → create deck → add cards → study → check dashboard.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43600" y="3154680"/>
            <a:ext cx="128016" cy="128016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217920" y="2926080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tests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17920" y="3246120"/>
            <a:ext cx="5394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endpoints end to end, e.g. create card → start session → rate → verify DB update.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943600" y="4389120"/>
            <a:ext cx="128016" cy="128016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217920" y="4160520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17920" y="4480560"/>
            <a:ext cx="5394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StudyService and the SRS engine: a “Hard” rating must produce a sooner next-review date than “Easy.”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— Testing Strategy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0332720" y="651052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EduSpaced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MANAGEMENT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Known failure points, and how we contain them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542032" cy="3977640"/>
          </a:xfrm>
          <a:prstGeom prst="roundRect">
            <a:avLst>
              <a:gd name="adj" fmla="val 3597"/>
            </a:avLst>
          </a:prstGeom>
          <a:solidFill>
            <a:srgbClr val="FDEE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542032" cy="91440"/>
          </a:xfrm>
          <a:prstGeom prst="roundRect">
            <a:avLst/>
          </a:prstGeom>
          <a:solidFill>
            <a:srgbClr val="C855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1965960"/>
            <a:ext cx="21762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3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FSRS complexity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743200"/>
            <a:ext cx="21762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5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31520" y="2971800"/>
            <a:ext cx="21762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4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Buggy scheduling gives users bad review dates.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3840480"/>
            <a:ext cx="21762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31520" y="4069080"/>
            <a:ext cx="217627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4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unit tests for the ts-fsrs wrapper, covering new and very old cards.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55264" y="1691640"/>
            <a:ext cx="2542032" cy="3977640"/>
          </a:xfrm>
          <a:prstGeom prst="roundRect">
            <a:avLst>
              <a:gd name="adj" fmla="val 3597"/>
            </a:avLst>
          </a:prstGeom>
          <a:solidFill>
            <a:srgbClr val="FDEE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255264" y="1691640"/>
            <a:ext cx="2542032" cy="91440"/>
          </a:xfrm>
          <a:prstGeom prst="roundRect">
            <a:avLst/>
          </a:prstGeom>
          <a:solidFill>
            <a:srgbClr val="C855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438144" y="1965960"/>
            <a:ext cx="21762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3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Client/server state sync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38144" y="2743200"/>
            <a:ext cx="21762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5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438144" y="2971800"/>
            <a:ext cx="21762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4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session state drifts during a session.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38144" y="3840480"/>
            <a:ext cx="21762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438144" y="4069080"/>
            <a:ext cx="217627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4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Optimistic UI updates that revert on failure; server cache cleared between reviews.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961888" y="1691640"/>
            <a:ext cx="2542032" cy="3977640"/>
          </a:xfrm>
          <a:prstGeom prst="roundRect">
            <a:avLst>
              <a:gd name="adj" fmla="val 3597"/>
            </a:avLst>
          </a:prstGeom>
          <a:solidFill>
            <a:srgbClr val="FDEE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961888" y="1691640"/>
            <a:ext cx="2542032" cy="91440"/>
          </a:xfrm>
          <a:prstGeom prst="roundRect">
            <a:avLst/>
          </a:prstGeom>
          <a:solidFill>
            <a:srgbClr val="C855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144768" y="1965960"/>
            <a:ext cx="21762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3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performance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144768" y="2743200"/>
            <a:ext cx="21762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5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144768" y="2971800"/>
            <a:ext cx="21762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4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can lock up under concurrent writes.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144768" y="3840480"/>
            <a:ext cx="21762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144768" y="4069080"/>
            <a:ext cx="217627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4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better-sqlite3 for synchronous access; queue writes if needed.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668512" y="1691640"/>
            <a:ext cx="2542032" cy="3977640"/>
          </a:xfrm>
          <a:prstGeom prst="roundRect">
            <a:avLst>
              <a:gd name="adj" fmla="val 3597"/>
            </a:avLst>
          </a:prstGeom>
          <a:solidFill>
            <a:srgbClr val="FDEEE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8668512" y="1691640"/>
            <a:ext cx="2542032" cy="91440"/>
          </a:xfrm>
          <a:prstGeom prst="roundRect">
            <a:avLst/>
          </a:prstGeom>
          <a:solidFill>
            <a:srgbClr val="C855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851392" y="1965960"/>
            <a:ext cx="21762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3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 creep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851392" y="2743200"/>
            <a:ext cx="21762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5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8851392" y="2971800"/>
            <a:ext cx="21762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4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features stretch out and delay V1.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851392" y="3840480"/>
            <a:ext cx="21762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8851392" y="4069080"/>
            <a:ext cx="217627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4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V1/V2 branch separation — V1 must ship before V2 work begins.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— Risk Management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0332720" y="651052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EduSpaced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&amp; DEVOPS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push is checked, every merge is built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542032" cy="2377440"/>
          </a:xfrm>
          <a:prstGeom prst="roundRect">
            <a:avLst>
              <a:gd name="adj" fmla="val 3846"/>
            </a:avLst>
          </a:prstGeom>
          <a:solidFill>
            <a:srgbClr val="F2F8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2697480"/>
            <a:ext cx="21762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3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Push to any branch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3291840"/>
            <a:ext cx="21762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A4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runs ESLint, Prettier, and unit tests automatically.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108960" y="2697480"/>
            <a:ext cx="2834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410712" y="1920240"/>
            <a:ext cx="2542032" cy="2377440"/>
          </a:xfrm>
          <a:prstGeom prst="roundRect">
            <a:avLst>
              <a:gd name="adj" fmla="val 3846"/>
            </a:avLst>
          </a:prstGeom>
          <a:solidFill>
            <a:srgbClr val="E6F2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593592" y="210312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593592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93592" y="2697480"/>
            <a:ext cx="21762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3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a PR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93592" y="3291840"/>
            <a:ext cx="21762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A4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status must be green before merge — no broken code lands on main.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971032" y="2697480"/>
            <a:ext cx="2834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272784" y="1920240"/>
            <a:ext cx="2542032" cy="2377440"/>
          </a:xfrm>
          <a:prstGeom prst="roundRect">
            <a:avLst>
              <a:gd name="adj" fmla="val 3846"/>
            </a:avLst>
          </a:prstGeom>
          <a:solidFill>
            <a:srgbClr val="F2F8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455664" y="210312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55664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55664" y="2697480"/>
            <a:ext cx="21762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3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Merge to main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55664" y="3291840"/>
            <a:ext cx="21762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A4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images are built for the client and server.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833104" y="2697480"/>
            <a:ext cx="2834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9134856" y="1920240"/>
            <a:ext cx="2542032" cy="2377440"/>
          </a:xfrm>
          <a:prstGeom prst="roundRect">
            <a:avLst>
              <a:gd name="adj" fmla="val 3846"/>
            </a:avLst>
          </a:prstGeom>
          <a:solidFill>
            <a:srgbClr val="E6F2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9317736" y="210312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317736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317736" y="2697480"/>
            <a:ext cx="21762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3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locally / deploy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317736" y="3291840"/>
            <a:ext cx="21762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A4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 runs the full app with SQLite in a consistent environment.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48640" y="461772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0B3B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822960" y="48006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DOCKERIZATION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22960" y="510235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FE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Dockerfile is maintained for both the server and the client, so the app runs identically on every machine — from a laptop to CI to a demo box.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— CI/CD &amp; DevOps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332720" y="651052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EduSpaced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3B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114800"/>
            <a:ext cx="4754880" cy="4754880"/>
          </a:xfrm>
          <a:prstGeom prst="ellipse">
            <a:avLst/>
          </a:prstGeom>
          <a:solidFill>
            <a:srgbClr val="072A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Ship V1 clean, then earn V2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777240" y="2404872"/>
            <a:ext cx="146304" cy="146304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143000" y="2331720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4F4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safety end to end — one monorepo, shared Zod schemas and interfaces.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971800"/>
            <a:ext cx="146304" cy="146304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143000" y="289864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4F4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SRS engine is isolated behind srs-engine, so ts-fsrs stays swappable and testable.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77240" y="3538728"/>
            <a:ext cx="146304" cy="146304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143000" y="3465576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4F4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 already supports analytics and AI features — no V2 refactor needed.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77240" y="4105656"/>
            <a:ext cx="146304" cy="146304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143000" y="4032504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4F4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phase gating: eight weeks, four phases, one deliverable at the end of each.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FC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— Summary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332720" y="651052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FC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EduSpaced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882</Words>
  <Application>Microsoft Office PowerPoint</Application>
  <PresentationFormat>Widescreen</PresentationFormat>
  <Paragraphs>170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Phuc Cai</cp:lastModifiedBy>
  <cp:revision>2</cp:revision>
  <dcterms:created xsi:type="dcterms:W3CDTF">2026-07-14T04:25:38Z</dcterms:created>
  <dcterms:modified xsi:type="dcterms:W3CDTF">2026-07-14T04:32:35Z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2026-07-14T04:32:35Z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9983ae6c-c165-41b7-94c9-d9554d7825d2</vt:lpwstr>
  </property>
  <property fmtid="{D5CDD505-2E9C-101B-9397-08002B2CF9AE}" pid="7" name="MSIP_Label_defa4170-0d19-0005-0004-bc88714345d2_ActionId">
    <vt:lpwstr>77400e57-d724-44eb-a825-03e283d9ce4f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