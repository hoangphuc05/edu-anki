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94" d="100"/>
          <a:sy n="94" d="100"/>
        </p:scale>
        <p:origin x="427" y="53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937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7377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8487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779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847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77169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7383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6842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6377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67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6378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663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6509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980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1728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3364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547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0521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87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9684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4892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B3B3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860292" name="Shape 0"/>
          <p:cNvSpPr/>
          <p:nvPr/>
        </p:nvSpPr>
        <p:spPr bwMode="auto">
          <a:xfrm>
            <a:off x="9235440" y="-1188720"/>
            <a:ext cx="4754880" cy="4754880"/>
          </a:xfrm>
          <a:prstGeom prst="ellipse">
            <a:avLst/>
          </a:prstGeom>
          <a:solidFill>
            <a:srgbClr val="072A2D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6148526" name="Shape 1"/>
          <p:cNvSpPr/>
          <p:nvPr/>
        </p:nvSpPr>
        <p:spPr bwMode="auto">
          <a:xfrm>
            <a:off x="9966960" y="-457200"/>
            <a:ext cx="3291840" cy="329184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8216262" name="Text 2"/>
          <p:cNvSpPr/>
          <p:nvPr/>
        </p:nvSpPr>
        <p:spPr bwMode="auto">
          <a:xfrm>
            <a:off x="731520" y="23317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400" b="1" spc="2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EDUSPACED</a:t>
            </a:r>
            <a:endParaRPr lang="en-US" sz="5400"/>
          </a:p>
        </p:txBody>
      </p:sp>
      <p:sp>
        <p:nvSpPr>
          <p:cNvPr id="1752526600" name="Text 3"/>
          <p:cNvSpPr/>
          <p:nvPr/>
        </p:nvSpPr>
        <p:spPr bwMode="auto">
          <a:xfrm>
            <a:off x="77724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Project Goal &amp; Management Plan</a:t>
            </a:r>
            <a:endParaRPr lang="en-US" sz="2200"/>
          </a:p>
        </p:txBody>
      </p:sp>
      <p:sp>
        <p:nvSpPr>
          <p:cNvPr id="1307795464" name="Shape 4"/>
          <p:cNvSpPr/>
          <p:nvPr/>
        </p:nvSpPr>
        <p:spPr bwMode="auto">
          <a:xfrm>
            <a:off x="777240" y="3977640"/>
            <a:ext cx="21945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7120615" name="Text 5"/>
          <p:cNvSpPr/>
          <p:nvPr/>
        </p:nvSpPr>
        <p:spPr bwMode="auto">
          <a:xfrm>
            <a:off x="777240" y="4160519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CFE8E5"/>
                </a:solidFill>
                <a:latin typeface="Calibri"/>
                <a:ea typeface="Calibri"/>
                <a:cs typeface="Calibri"/>
              </a:rPr>
              <a:t>A spaced-repetition study platform built on TypeScript, React, and the FSRS scheduling algorithm.</a:t>
            </a:r>
            <a:endParaRPr lang="en-US" sz="1400"/>
          </a:p>
        </p:txBody>
      </p:sp>
      <p:sp>
        <p:nvSpPr>
          <p:cNvPr id="2043381092" name="Text 6"/>
          <p:cNvSpPr/>
          <p:nvPr/>
        </p:nvSpPr>
        <p:spPr bwMode="auto"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9FC9C6"/>
                </a:solidFill>
                <a:latin typeface="Calibri"/>
                <a:ea typeface="Calibri"/>
                <a:cs typeface="Calibri"/>
              </a:rPr>
              <a:t>Technical Roadmap Overview</a:t>
            </a:r>
            <a:endParaRPr lang="en-US" sz="1000"/>
          </a:p>
        </p:txBody>
      </p:sp>
      <p:sp>
        <p:nvSpPr>
          <p:cNvPr id="1620367372" name="Text 7"/>
          <p:cNvSpPr/>
          <p:nvPr/>
        </p:nvSpPr>
        <p:spPr bwMode="auto"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9FC9C6"/>
                </a:solidFill>
                <a:latin typeface="Calibri"/>
                <a:ea typeface="Calibri"/>
                <a:cs typeface="Calibri"/>
              </a:rPr>
              <a:t>EduSpaced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897798" name="Text 0"/>
          <p:cNvSpPr/>
          <p:nvPr/>
        </p:nvSpPr>
        <p:spPr bwMode="auto"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PROJECT GOAL</a:t>
            </a:r>
            <a:endParaRPr lang="en-US" sz="1300"/>
          </a:p>
        </p:txBody>
      </p:sp>
      <p:sp>
        <p:nvSpPr>
          <p:cNvPr id="1034333769" name="Text 1"/>
          <p:cNvSpPr/>
          <p:nvPr/>
        </p:nvSpPr>
        <p:spPr bwMode="auto">
          <a:xfrm>
            <a:off x="548640" y="71323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Help memorize</a:t>
            </a:r>
            <a:endParaRPr lang="en-US" sz="3000"/>
          </a:p>
        </p:txBody>
      </p:sp>
      <p:sp>
        <p:nvSpPr>
          <p:cNvPr id="873577895" name="Text 2"/>
          <p:cNvSpPr/>
          <p:nvPr/>
        </p:nvSpPr>
        <p:spPr bwMode="auto">
          <a:xfrm>
            <a:off x="548640" y="1554480"/>
            <a:ext cx="603503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4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EduSpaced is a flashcard app that schedules every review using the </a:t>
            </a:r>
            <a:r>
              <a:rPr lang="en-US" sz="145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FSRS algorithm</a:t>
            </a:r>
            <a:r>
              <a:rPr lang="en-US" sz="14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 (via ts-fsrs), so learners see each card exactly when they're about to forget it — not too soon, not too late.</a:t>
            </a:r>
            <a:endParaRPr lang="en-US" sz="1450"/>
          </a:p>
        </p:txBody>
      </p:sp>
      <p:sp>
        <p:nvSpPr>
          <p:cNvPr id="1972400883" name="Shape 3"/>
          <p:cNvSpPr/>
          <p:nvPr/>
        </p:nvSpPr>
        <p:spPr bwMode="auto">
          <a:xfrm>
            <a:off x="548640" y="3063240"/>
            <a:ext cx="502920" cy="502920"/>
          </a:xfrm>
          <a:prstGeom prst="ellipse">
            <a:avLst/>
          </a:prstGeom>
          <a:solidFill>
            <a:srgbClr val="E6F2F0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9499776" name="Text 4"/>
          <p:cNvSpPr/>
          <p:nvPr/>
        </p:nvSpPr>
        <p:spPr bwMode="auto"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01</a:t>
            </a:r>
            <a:endParaRPr lang="en-US" sz="1400"/>
          </a:p>
        </p:txBody>
      </p:sp>
      <p:sp>
        <p:nvSpPr>
          <p:cNvPr id="1231802814" name="Text 5"/>
          <p:cNvSpPr/>
          <p:nvPr/>
        </p:nvSpPr>
        <p:spPr bwMode="auto">
          <a:xfrm>
            <a:off x="1234440" y="300837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3B3F"/>
                </a:solidFill>
                <a:latin typeface="Calibri"/>
                <a:ea typeface="Calibri"/>
                <a:cs typeface="Calibri"/>
              </a:rPr>
              <a:t>Reduce wasted review time</a:t>
            </a:r>
            <a:endParaRPr lang="en-US" sz="1400"/>
          </a:p>
        </p:txBody>
      </p:sp>
      <p:sp>
        <p:nvSpPr>
          <p:cNvPr id="1442031149" name="Text 6"/>
          <p:cNvSpPr/>
          <p:nvPr/>
        </p:nvSpPr>
        <p:spPr bwMode="auto">
          <a:xfrm>
            <a:off x="1234440" y="3310127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Show cards only when memory is about to decay, not on a fixed calendar.</a:t>
            </a:r>
            <a:endParaRPr lang="en-US" sz="1150"/>
          </a:p>
        </p:txBody>
      </p:sp>
      <p:sp>
        <p:nvSpPr>
          <p:cNvPr id="594648918" name="Shape 7"/>
          <p:cNvSpPr/>
          <p:nvPr/>
        </p:nvSpPr>
        <p:spPr bwMode="auto">
          <a:xfrm>
            <a:off x="548640" y="4023360"/>
            <a:ext cx="502920" cy="502920"/>
          </a:xfrm>
          <a:prstGeom prst="ellipse">
            <a:avLst/>
          </a:prstGeom>
          <a:solidFill>
            <a:srgbClr val="E6F2F0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4397242" name="Text 8"/>
          <p:cNvSpPr/>
          <p:nvPr/>
        </p:nvSpPr>
        <p:spPr bwMode="auto"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02</a:t>
            </a:r>
            <a:endParaRPr lang="en-US" sz="1400"/>
          </a:p>
        </p:txBody>
      </p:sp>
      <p:sp>
        <p:nvSpPr>
          <p:cNvPr id="370693518" name="Text 9"/>
          <p:cNvSpPr/>
          <p:nvPr/>
        </p:nvSpPr>
        <p:spPr bwMode="auto">
          <a:xfrm>
            <a:off x="1234440" y="396849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3B3F"/>
                </a:solidFill>
                <a:latin typeface="Calibri"/>
                <a:ea typeface="Calibri"/>
                <a:cs typeface="Calibri"/>
              </a:rPr>
              <a:t>Keep the loop lightweight</a:t>
            </a:r>
            <a:endParaRPr lang="en-US" sz="1400"/>
          </a:p>
        </p:txBody>
      </p:sp>
      <p:sp>
        <p:nvSpPr>
          <p:cNvPr id="225978578" name="Text 10"/>
          <p:cNvSpPr/>
          <p:nvPr/>
        </p:nvSpPr>
        <p:spPr bwMode="auto">
          <a:xfrm>
            <a:off x="1234440" y="42702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Deck → Study → Rate → Next card, with optimistic UI for a snappy feel.</a:t>
            </a:r>
            <a:endParaRPr lang="en-US" sz="1150"/>
          </a:p>
        </p:txBody>
      </p:sp>
      <p:sp>
        <p:nvSpPr>
          <p:cNvPr id="281360810" name="Shape 11"/>
          <p:cNvSpPr/>
          <p:nvPr/>
        </p:nvSpPr>
        <p:spPr bwMode="auto">
          <a:xfrm>
            <a:off x="548640" y="4983480"/>
            <a:ext cx="502920" cy="502920"/>
          </a:xfrm>
          <a:prstGeom prst="ellipse">
            <a:avLst/>
          </a:prstGeom>
          <a:solidFill>
            <a:srgbClr val="E6F2F0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5996797" name="Text 12"/>
          <p:cNvSpPr/>
          <p:nvPr/>
        </p:nvSpPr>
        <p:spPr bwMode="auto"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03</a:t>
            </a:r>
            <a:endParaRPr lang="en-US" sz="1400"/>
          </a:p>
        </p:txBody>
      </p:sp>
      <p:sp>
        <p:nvSpPr>
          <p:cNvPr id="61624632" name="Text 13"/>
          <p:cNvSpPr/>
          <p:nvPr/>
        </p:nvSpPr>
        <p:spPr bwMode="auto">
          <a:xfrm>
            <a:off x="1234440" y="492861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3B3F"/>
                </a:solidFill>
                <a:latin typeface="Calibri"/>
                <a:ea typeface="Calibri"/>
                <a:cs typeface="Calibri"/>
              </a:rPr>
              <a:t>Lay groundwork for V2</a:t>
            </a:r>
            <a:endParaRPr lang="en-US" sz="1400"/>
          </a:p>
        </p:txBody>
      </p:sp>
      <p:sp>
        <p:nvSpPr>
          <p:cNvPr id="827271421" name="Text 14"/>
          <p:cNvSpPr/>
          <p:nvPr/>
        </p:nvSpPr>
        <p:spPr bwMode="auto">
          <a:xfrm>
            <a:off x="1234440" y="52303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Store full review history from day one so analytics and AI features need no rework.</a:t>
            </a:r>
            <a:endParaRPr lang="en-US" sz="1150"/>
          </a:p>
        </p:txBody>
      </p:sp>
      <p:sp>
        <p:nvSpPr>
          <p:cNvPr id="1894652925" name="Shape 15"/>
          <p:cNvSpPr/>
          <p:nvPr/>
        </p:nvSpPr>
        <p:spPr bwMode="auto">
          <a:xfrm>
            <a:off x="7040880" y="1554480"/>
            <a:ext cx="4572000" cy="4297680"/>
          </a:xfrm>
          <a:prstGeom prst="roundRect">
            <a:avLst>
              <a:gd name="adj" fmla="val 2553"/>
            </a:avLst>
          </a:prstGeom>
          <a:solidFill>
            <a:srgbClr val="0B3B3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258891" name="Text 16"/>
          <p:cNvSpPr/>
          <p:nvPr/>
        </p:nvSpPr>
        <p:spPr bwMode="auto">
          <a:xfrm>
            <a:off x="740664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WHY SPACED REPETITION</a:t>
            </a:r>
            <a:endParaRPr lang="en-US" sz="1100"/>
          </a:p>
        </p:txBody>
      </p:sp>
      <p:sp>
        <p:nvSpPr>
          <p:cNvPr id="1758930577" name="Text 17"/>
          <p:cNvSpPr/>
          <p:nvPr/>
        </p:nvSpPr>
        <p:spPr bwMode="auto">
          <a:xfrm>
            <a:off x="7406640" y="21945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FE8E5"/>
                </a:solidFill>
                <a:latin typeface="Calibri"/>
                <a:ea typeface="Calibri"/>
                <a:cs typeface="Calibri"/>
              </a:rPr>
              <a:t>Reviewing at the right interval can cut total study time while improving long-term recall.</a:t>
            </a:r>
            <a:endParaRPr lang="en-US" sz="1200"/>
          </a:p>
        </p:txBody>
      </p:sp>
      <p:sp>
        <p:nvSpPr>
          <p:cNvPr id="1836323051" name="Text 18"/>
          <p:cNvSpPr/>
          <p:nvPr/>
        </p:nvSpPr>
        <p:spPr bwMode="auto">
          <a:xfrm>
            <a:off x="7406640" y="30632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V1</a:t>
            </a:r>
            <a:endParaRPr lang="en-US" sz="4000"/>
          </a:p>
        </p:txBody>
      </p:sp>
      <p:sp>
        <p:nvSpPr>
          <p:cNvPr id="1193888693" name="Text 19"/>
          <p:cNvSpPr/>
          <p:nvPr/>
        </p:nvSpPr>
        <p:spPr bwMode="auto">
          <a:xfrm>
            <a:off x="740664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FE8E5"/>
                </a:solidFill>
                <a:latin typeface="Calibri"/>
                <a:ea typeface="Calibri"/>
                <a:cs typeface="Calibri"/>
              </a:rPr>
              <a:t>Manual decks +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CFE8E5"/>
                </a:solidFill>
                <a:latin typeface="Calibri"/>
                <a:ea typeface="Calibri"/>
                <a:cs typeface="Calibri"/>
              </a:rPr>
              <a:t>automatic scheduling</a:t>
            </a:r>
            <a:endParaRPr lang="en-US" sz="1100"/>
          </a:p>
        </p:txBody>
      </p:sp>
      <p:sp>
        <p:nvSpPr>
          <p:cNvPr id="65626715" name="Text 20"/>
          <p:cNvSpPr/>
          <p:nvPr/>
        </p:nvSpPr>
        <p:spPr bwMode="auto">
          <a:xfrm>
            <a:off x="9418320" y="30632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V2</a:t>
            </a:r>
            <a:endParaRPr lang="en-US" sz="4000"/>
          </a:p>
        </p:txBody>
      </p:sp>
      <p:sp>
        <p:nvSpPr>
          <p:cNvPr id="581187032" name="Text 21"/>
          <p:cNvSpPr/>
          <p:nvPr/>
        </p:nvSpPr>
        <p:spPr bwMode="auto">
          <a:xfrm>
            <a:off x="941832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FE8E5"/>
                </a:solidFill>
                <a:latin typeface="Calibri"/>
                <a:ea typeface="Calibri"/>
                <a:cs typeface="Calibri"/>
              </a:rPr>
              <a:t>AI-generated cards +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CFE8E5"/>
                </a:solidFill>
                <a:latin typeface="Calibri"/>
                <a:ea typeface="Calibri"/>
                <a:cs typeface="Calibri"/>
              </a:rPr>
              <a:t>weak-deck insights</a:t>
            </a:r>
            <a:endParaRPr lang="en-US" sz="1100"/>
          </a:p>
        </p:txBody>
      </p:sp>
      <p:sp>
        <p:nvSpPr>
          <p:cNvPr id="1614499722" name="Shape 22"/>
          <p:cNvSpPr/>
          <p:nvPr/>
        </p:nvSpPr>
        <p:spPr bwMode="auto">
          <a:xfrm>
            <a:off x="7406640" y="4526280"/>
            <a:ext cx="384048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7924713" name="Text 23"/>
          <p:cNvSpPr/>
          <p:nvPr/>
        </p:nvSpPr>
        <p:spPr bwMode="auto">
          <a:xfrm>
            <a:off x="7406640" y="4709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CFE8E5"/>
                </a:solidFill>
                <a:latin typeface="Calibri"/>
                <a:ea typeface="Calibri"/>
                <a:cs typeface="Calibri"/>
              </a:rPr>
              <a:t>Core engine: ts-fsrs, wrapped in a dedicated srs-engine package for easy testing and mocking.</a:t>
            </a:r>
            <a:endParaRPr lang="en-US" sz="1150"/>
          </a:p>
        </p:txBody>
      </p:sp>
      <p:sp>
        <p:nvSpPr>
          <p:cNvPr id="1617591849" name="Text 24"/>
          <p:cNvSpPr/>
          <p:nvPr/>
        </p:nvSpPr>
        <p:spPr bwMode="auto"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1 — Project Goal</a:t>
            </a:r>
            <a:endParaRPr lang="en-US" sz="1000"/>
          </a:p>
        </p:txBody>
      </p:sp>
      <p:sp>
        <p:nvSpPr>
          <p:cNvPr id="1249759044" name="Text 25"/>
          <p:cNvSpPr/>
          <p:nvPr/>
        </p:nvSpPr>
        <p:spPr bwMode="auto"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EduSpaced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96031" name="Text 0"/>
          <p:cNvSpPr/>
          <p:nvPr/>
        </p:nvSpPr>
        <p:spPr bwMode="auto"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ARCHITECTURE</a:t>
            </a:r>
            <a:endParaRPr lang="en-US" sz="1300"/>
          </a:p>
        </p:txBody>
      </p:sp>
      <p:sp>
        <p:nvSpPr>
          <p:cNvPr id="956291645" name="Text 1"/>
          <p:cNvSpPr/>
          <p:nvPr/>
        </p:nvSpPr>
        <p:spPr bwMode="auto"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Monorepo, shared types</a:t>
            </a:r>
            <a:endParaRPr lang="en-US" sz="2800"/>
          </a:p>
        </p:txBody>
      </p:sp>
      <p:sp>
        <p:nvSpPr>
          <p:cNvPr id="1707975387" name="Text 2"/>
          <p:cNvSpPr/>
          <p:nvPr/>
        </p:nvSpPr>
        <p:spPr bwMode="auto"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React and Express live in one workspace so TypeScript interfaces and Zod schemas are written once and shared by both.</a:t>
            </a:r>
            <a:endParaRPr lang="en-US" sz="1300"/>
          </a:p>
        </p:txBody>
      </p:sp>
      <p:sp>
        <p:nvSpPr>
          <p:cNvPr id="109173855" name="Shape 3"/>
          <p:cNvSpPr/>
          <p:nvPr/>
        </p:nvSpPr>
        <p:spPr bwMode="auto">
          <a:xfrm>
            <a:off x="548640" y="196596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F2F8F7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7967180" name="Shape 4"/>
          <p:cNvSpPr/>
          <p:nvPr/>
        </p:nvSpPr>
        <p:spPr bwMode="auto">
          <a:xfrm>
            <a:off x="713232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2064989" name="Text 5"/>
          <p:cNvSpPr/>
          <p:nvPr/>
        </p:nvSpPr>
        <p:spPr bwMode="auto">
          <a:xfrm>
            <a:off x="71323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300"/>
          </a:p>
        </p:txBody>
      </p:sp>
      <p:sp>
        <p:nvSpPr>
          <p:cNvPr id="232818909" name="Text 6"/>
          <p:cNvSpPr/>
          <p:nvPr/>
        </p:nvSpPr>
        <p:spPr bwMode="auto">
          <a:xfrm>
            <a:off x="713232" y="267919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 spc="5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FRONTEND</a:t>
            </a:r>
            <a:endParaRPr lang="en-US" sz="1000"/>
          </a:p>
        </p:txBody>
      </p:sp>
      <p:sp>
        <p:nvSpPr>
          <p:cNvPr id="1400132974" name="Text 7"/>
          <p:cNvSpPr/>
          <p:nvPr/>
        </p:nvSpPr>
        <p:spPr bwMode="auto">
          <a:xfrm>
            <a:off x="713232" y="2916936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React + Vite</a:t>
            </a:r>
            <a:endParaRPr lang="en-US" sz="1500"/>
          </a:p>
        </p:txBody>
      </p:sp>
      <p:sp>
        <p:nvSpPr>
          <p:cNvPr id="889136477" name="Text 8"/>
          <p:cNvSpPr/>
          <p:nvPr/>
        </p:nvSpPr>
        <p:spPr bwMode="auto">
          <a:xfrm>
            <a:off x="713232" y="329184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Fast HMR and modern build tooling for the study UI.</a:t>
            </a:r>
            <a:endParaRPr lang="en-US" sz="950"/>
          </a:p>
        </p:txBody>
      </p:sp>
      <p:sp>
        <p:nvSpPr>
          <p:cNvPr id="190593287" name="Shape 9"/>
          <p:cNvSpPr/>
          <p:nvPr/>
        </p:nvSpPr>
        <p:spPr bwMode="auto">
          <a:xfrm>
            <a:off x="3255264" y="196596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F2F8F7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9526611" name="Shape 10"/>
          <p:cNvSpPr/>
          <p:nvPr/>
        </p:nvSpPr>
        <p:spPr bwMode="auto">
          <a:xfrm>
            <a:off x="3419856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8777179" name="Text 11"/>
          <p:cNvSpPr/>
          <p:nvPr/>
        </p:nvSpPr>
        <p:spPr bwMode="auto">
          <a:xfrm>
            <a:off x="3419856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300"/>
          </a:p>
        </p:txBody>
      </p:sp>
      <p:sp>
        <p:nvSpPr>
          <p:cNvPr id="172686719" name="Text 12"/>
          <p:cNvSpPr/>
          <p:nvPr/>
        </p:nvSpPr>
        <p:spPr bwMode="auto">
          <a:xfrm>
            <a:off x="3419856" y="267919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 spc="5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STYLING</a:t>
            </a:r>
            <a:endParaRPr lang="en-US" sz="1000"/>
          </a:p>
        </p:txBody>
      </p:sp>
      <p:sp>
        <p:nvSpPr>
          <p:cNvPr id="1465165356" name="Text 13"/>
          <p:cNvSpPr/>
          <p:nvPr/>
        </p:nvSpPr>
        <p:spPr bwMode="auto">
          <a:xfrm>
            <a:off x="3419856" y="2916936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Tailwind CSS</a:t>
            </a:r>
            <a:endParaRPr lang="en-US" sz="1500"/>
          </a:p>
        </p:txBody>
      </p:sp>
      <p:sp>
        <p:nvSpPr>
          <p:cNvPr id="817593423" name="Text 14"/>
          <p:cNvSpPr/>
          <p:nvPr/>
        </p:nvSpPr>
        <p:spPr bwMode="auto">
          <a:xfrm>
            <a:off x="3419856" y="329184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Utility classes for rapid, consistent UI work.</a:t>
            </a:r>
            <a:endParaRPr lang="en-US" sz="950"/>
          </a:p>
        </p:txBody>
      </p:sp>
      <p:sp>
        <p:nvSpPr>
          <p:cNvPr id="1389090626" name="Shape 15"/>
          <p:cNvSpPr/>
          <p:nvPr/>
        </p:nvSpPr>
        <p:spPr bwMode="auto">
          <a:xfrm>
            <a:off x="5961888" y="196596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F2F8F7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1927374" name="Shape 16"/>
          <p:cNvSpPr/>
          <p:nvPr/>
        </p:nvSpPr>
        <p:spPr bwMode="auto">
          <a:xfrm>
            <a:off x="6126480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6570334" name="Text 17"/>
          <p:cNvSpPr/>
          <p:nvPr/>
        </p:nvSpPr>
        <p:spPr bwMode="auto">
          <a:xfrm>
            <a:off x="612648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300"/>
          </a:p>
        </p:txBody>
      </p:sp>
      <p:sp>
        <p:nvSpPr>
          <p:cNvPr id="362709226" name="Text 18"/>
          <p:cNvSpPr/>
          <p:nvPr/>
        </p:nvSpPr>
        <p:spPr bwMode="auto">
          <a:xfrm>
            <a:off x="6126480" y="267919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 spc="5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BACKEND</a:t>
            </a:r>
            <a:endParaRPr lang="en-US" sz="1000"/>
          </a:p>
        </p:txBody>
      </p:sp>
      <p:sp>
        <p:nvSpPr>
          <p:cNvPr id="1796332098" name="Text 19"/>
          <p:cNvSpPr/>
          <p:nvPr/>
        </p:nvSpPr>
        <p:spPr bwMode="auto">
          <a:xfrm>
            <a:off x="6126480" y="2916936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Node.js + Express</a:t>
            </a:r>
            <a:endParaRPr lang="en-US" sz="1500"/>
          </a:p>
        </p:txBody>
      </p:sp>
      <p:sp>
        <p:nvSpPr>
          <p:cNvPr id="174783755" name="Text 20"/>
          <p:cNvSpPr/>
          <p:nvPr/>
        </p:nvSpPr>
        <p:spPr bwMode="auto">
          <a:xfrm>
            <a:off x="6126480" y="329184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Industry-standard server with a large middleware ecosystem.</a:t>
            </a:r>
            <a:endParaRPr lang="en-US" sz="950"/>
          </a:p>
        </p:txBody>
      </p:sp>
      <p:sp>
        <p:nvSpPr>
          <p:cNvPr id="427263115" name="Shape 21"/>
          <p:cNvSpPr/>
          <p:nvPr/>
        </p:nvSpPr>
        <p:spPr bwMode="auto">
          <a:xfrm>
            <a:off x="8668512" y="196596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F2F8F7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6307952" name="Shape 22"/>
          <p:cNvSpPr/>
          <p:nvPr/>
        </p:nvSpPr>
        <p:spPr bwMode="auto">
          <a:xfrm>
            <a:off x="8833104" y="2130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6451649" name="Text 23"/>
          <p:cNvSpPr/>
          <p:nvPr/>
        </p:nvSpPr>
        <p:spPr bwMode="auto">
          <a:xfrm>
            <a:off x="8833104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300"/>
          </a:p>
        </p:txBody>
      </p:sp>
      <p:sp>
        <p:nvSpPr>
          <p:cNvPr id="941562385" name="Text 24"/>
          <p:cNvSpPr/>
          <p:nvPr/>
        </p:nvSpPr>
        <p:spPr bwMode="auto">
          <a:xfrm>
            <a:off x="8833104" y="267919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 spc="5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VALIDATION</a:t>
            </a:r>
            <a:endParaRPr lang="en-US" sz="1000"/>
          </a:p>
        </p:txBody>
      </p:sp>
      <p:sp>
        <p:nvSpPr>
          <p:cNvPr id="1385935318" name="Text 25"/>
          <p:cNvSpPr/>
          <p:nvPr/>
        </p:nvSpPr>
        <p:spPr bwMode="auto">
          <a:xfrm>
            <a:off x="8833104" y="2916936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Zod</a:t>
            </a:r>
            <a:endParaRPr lang="en-US" sz="1500"/>
          </a:p>
        </p:txBody>
      </p:sp>
      <p:sp>
        <p:nvSpPr>
          <p:cNvPr id="996294324" name="Text 26"/>
          <p:cNvSpPr/>
          <p:nvPr/>
        </p:nvSpPr>
        <p:spPr bwMode="auto">
          <a:xfrm>
            <a:off x="8833104" y="329184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One schema validates API input on client and server.</a:t>
            </a:r>
            <a:endParaRPr lang="en-US" sz="950"/>
          </a:p>
        </p:txBody>
      </p:sp>
      <p:sp>
        <p:nvSpPr>
          <p:cNvPr id="607233897" name="Shape 27"/>
          <p:cNvSpPr/>
          <p:nvPr/>
        </p:nvSpPr>
        <p:spPr bwMode="auto">
          <a:xfrm>
            <a:off x="548640" y="4005072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E6F2F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2898045" name="Shape 28"/>
          <p:cNvSpPr/>
          <p:nvPr/>
        </p:nvSpPr>
        <p:spPr bwMode="auto">
          <a:xfrm>
            <a:off x="713232" y="4169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213294" name="Text 29"/>
          <p:cNvSpPr/>
          <p:nvPr/>
        </p:nvSpPr>
        <p:spPr bwMode="auto">
          <a:xfrm>
            <a:off x="713232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lang="en-US" sz="1300"/>
          </a:p>
        </p:txBody>
      </p:sp>
      <p:sp>
        <p:nvSpPr>
          <p:cNvPr id="1165426790" name="Text 30"/>
          <p:cNvSpPr/>
          <p:nvPr/>
        </p:nvSpPr>
        <p:spPr bwMode="auto">
          <a:xfrm>
            <a:off x="713232" y="471830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 spc="5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DATABASE ORM</a:t>
            </a:r>
            <a:endParaRPr lang="en-US" sz="1000"/>
          </a:p>
        </p:txBody>
      </p:sp>
      <p:sp>
        <p:nvSpPr>
          <p:cNvPr id="1192012376" name="Text 31"/>
          <p:cNvSpPr/>
          <p:nvPr/>
        </p:nvSpPr>
        <p:spPr bwMode="auto">
          <a:xfrm>
            <a:off x="713232" y="495604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Prisma</a:t>
            </a:r>
            <a:endParaRPr lang="en-US" sz="1500"/>
          </a:p>
        </p:txBody>
      </p:sp>
      <p:sp>
        <p:nvSpPr>
          <p:cNvPr id="573131231" name="Text 32"/>
          <p:cNvSpPr/>
          <p:nvPr/>
        </p:nvSpPr>
        <p:spPr bwMode="auto">
          <a:xfrm>
            <a:off x="713232" y="533095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Type-safe queries, migrations, strong SQLite support.</a:t>
            </a:r>
            <a:endParaRPr lang="en-US" sz="950"/>
          </a:p>
        </p:txBody>
      </p:sp>
      <p:sp>
        <p:nvSpPr>
          <p:cNvPr id="1408681731" name="Shape 33"/>
          <p:cNvSpPr/>
          <p:nvPr/>
        </p:nvSpPr>
        <p:spPr bwMode="auto">
          <a:xfrm>
            <a:off x="3255264" y="4005072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E6F2F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3202096" name="Shape 34"/>
          <p:cNvSpPr/>
          <p:nvPr/>
        </p:nvSpPr>
        <p:spPr bwMode="auto">
          <a:xfrm>
            <a:off x="3419856" y="4169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1958310" name="Text 35"/>
          <p:cNvSpPr/>
          <p:nvPr/>
        </p:nvSpPr>
        <p:spPr bwMode="auto">
          <a:xfrm>
            <a:off x="3419856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  <a:endParaRPr lang="en-US" sz="1300"/>
          </a:p>
        </p:txBody>
      </p:sp>
      <p:sp>
        <p:nvSpPr>
          <p:cNvPr id="176555935" name="Text 36"/>
          <p:cNvSpPr/>
          <p:nvPr/>
        </p:nvSpPr>
        <p:spPr bwMode="auto">
          <a:xfrm>
            <a:off x="3419856" y="471830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 spc="5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DATABASE</a:t>
            </a:r>
            <a:endParaRPr lang="en-US" sz="1000"/>
          </a:p>
        </p:txBody>
      </p:sp>
      <p:sp>
        <p:nvSpPr>
          <p:cNvPr id="788598390" name="Text 37"/>
          <p:cNvSpPr/>
          <p:nvPr/>
        </p:nvSpPr>
        <p:spPr bwMode="auto">
          <a:xfrm>
            <a:off x="3419856" y="495604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SQLite</a:t>
            </a:r>
            <a:endParaRPr lang="en-US" sz="1500"/>
          </a:p>
        </p:txBody>
      </p:sp>
      <p:sp>
        <p:nvSpPr>
          <p:cNvPr id="439751134" name="Text 38"/>
          <p:cNvSpPr/>
          <p:nvPr/>
        </p:nvSpPr>
        <p:spPr bwMode="auto">
          <a:xfrm>
            <a:off x="3419856" y="533095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Zero-config, file-based — right-sized for a semester project.</a:t>
            </a:r>
            <a:endParaRPr lang="en-US" sz="950"/>
          </a:p>
        </p:txBody>
      </p:sp>
      <p:sp>
        <p:nvSpPr>
          <p:cNvPr id="663665306" name="Shape 39"/>
          <p:cNvSpPr/>
          <p:nvPr/>
        </p:nvSpPr>
        <p:spPr bwMode="auto">
          <a:xfrm>
            <a:off x="5961888" y="4005072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E6F2F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8323893" name="Shape 40"/>
          <p:cNvSpPr/>
          <p:nvPr/>
        </p:nvSpPr>
        <p:spPr bwMode="auto">
          <a:xfrm>
            <a:off x="6126480" y="4169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8617403" name="Text 41"/>
          <p:cNvSpPr/>
          <p:nvPr/>
        </p:nvSpPr>
        <p:spPr bwMode="auto">
          <a:xfrm>
            <a:off x="612648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  <a:endParaRPr lang="en-US" sz="1300"/>
          </a:p>
        </p:txBody>
      </p:sp>
      <p:sp>
        <p:nvSpPr>
          <p:cNvPr id="2009155396" name="Text 42"/>
          <p:cNvSpPr/>
          <p:nvPr/>
        </p:nvSpPr>
        <p:spPr bwMode="auto">
          <a:xfrm>
            <a:off x="6126480" y="471830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 spc="5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SRS ENGINE</a:t>
            </a:r>
            <a:endParaRPr lang="en-US" sz="1000"/>
          </a:p>
        </p:txBody>
      </p:sp>
      <p:sp>
        <p:nvSpPr>
          <p:cNvPr id="365343428" name="Text 43"/>
          <p:cNvSpPr/>
          <p:nvPr/>
        </p:nvSpPr>
        <p:spPr bwMode="auto">
          <a:xfrm>
            <a:off x="6126480" y="495604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ts-fsrs</a:t>
            </a:r>
            <a:endParaRPr lang="en-US" sz="1500"/>
          </a:p>
        </p:txBody>
      </p:sp>
      <p:sp>
        <p:nvSpPr>
          <p:cNvPr id="1877774310" name="Text 44"/>
          <p:cNvSpPr/>
          <p:nvPr/>
        </p:nvSpPr>
        <p:spPr bwMode="auto">
          <a:xfrm>
            <a:off x="6126480" y="533095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Calculates review schedules with the FSRS algorithm.</a:t>
            </a:r>
            <a:endParaRPr lang="en-US" sz="950"/>
          </a:p>
        </p:txBody>
      </p:sp>
      <p:sp>
        <p:nvSpPr>
          <p:cNvPr id="464088563" name="Shape 45"/>
          <p:cNvSpPr/>
          <p:nvPr/>
        </p:nvSpPr>
        <p:spPr bwMode="auto">
          <a:xfrm>
            <a:off x="8668512" y="4005072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E6F2F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3945368" name="Shape 46"/>
          <p:cNvSpPr/>
          <p:nvPr/>
        </p:nvSpPr>
        <p:spPr bwMode="auto">
          <a:xfrm>
            <a:off x="8833104" y="4169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0874585" name="Text 47"/>
          <p:cNvSpPr/>
          <p:nvPr/>
        </p:nvSpPr>
        <p:spPr bwMode="auto">
          <a:xfrm>
            <a:off x="8833104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</a:t>
            </a:r>
            <a:endParaRPr lang="en-US" sz="1300"/>
          </a:p>
        </p:txBody>
      </p:sp>
      <p:sp>
        <p:nvSpPr>
          <p:cNvPr id="1770035477" name="Text 48"/>
          <p:cNvSpPr/>
          <p:nvPr/>
        </p:nvSpPr>
        <p:spPr bwMode="auto">
          <a:xfrm>
            <a:off x="8833104" y="471830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 spc="5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DATA FETCHING</a:t>
            </a:r>
            <a:endParaRPr lang="en-US" sz="1000"/>
          </a:p>
        </p:txBody>
      </p:sp>
      <p:sp>
        <p:nvSpPr>
          <p:cNvPr id="970982931" name="Text 49"/>
          <p:cNvSpPr/>
          <p:nvPr/>
        </p:nvSpPr>
        <p:spPr bwMode="auto">
          <a:xfrm>
            <a:off x="8833104" y="495604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TanStack Query</a:t>
            </a:r>
            <a:endParaRPr lang="en-US" sz="1500"/>
          </a:p>
        </p:txBody>
      </p:sp>
      <p:sp>
        <p:nvSpPr>
          <p:cNvPr id="998685019" name="Text 50"/>
          <p:cNvSpPr/>
          <p:nvPr/>
        </p:nvSpPr>
        <p:spPr bwMode="auto">
          <a:xfrm>
            <a:off x="8833104" y="533095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Handles caching, loading state, and background refetch.</a:t>
            </a:r>
            <a:endParaRPr lang="en-US" sz="950"/>
          </a:p>
        </p:txBody>
      </p:sp>
      <p:sp>
        <p:nvSpPr>
          <p:cNvPr id="578736154" name="Text 51"/>
          <p:cNvSpPr/>
          <p:nvPr/>
        </p:nvSpPr>
        <p:spPr bwMode="auto"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2 — Technology Stack</a:t>
            </a:r>
            <a:endParaRPr lang="en-US" sz="1000"/>
          </a:p>
        </p:txBody>
      </p:sp>
      <p:sp>
        <p:nvSpPr>
          <p:cNvPr id="1687341639" name="Text 52"/>
          <p:cNvSpPr/>
          <p:nvPr/>
        </p:nvSpPr>
        <p:spPr bwMode="auto"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EduSpaced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08901" name="Text 0"/>
          <p:cNvSpPr/>
          <p:nvPr/>
        </p:nvSpPr>
        <p:spPr bwMode="auto"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ROADMAP</a:t>
            </a:r>
            <a:endParaRPr lang="en-US" sz="1300"/>
          </a:p>
        </p:txBody>
      </p:sp>
      <p:sp>
        <p:nvSpPr>
          <p:cNvPr id="803605028" name="Text 1"/>
          <p:cNvSpPr/>
          <p:nvPr/>
        </p:nvSpPr>
        <p:spPr bwMode="auto"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Four phases</a:t>
            </a:r>
            <a:endParaRPr lang="en-US" sz="2800"/>
          </a:p>
        </p:txBody>
      </p:sp>
      <p:sp>
        <p:nvSpPr>
          <p:cNvPr id="302512886" name="Shape 2"/>
          <p:cNvSpPr/>
          <p:nvPr/>
        </p:nvSpPr>
        <p:spPr bwMode="auto">
          <a:xfrm>
            <a:off x="548640" y="1691640"/>
            <a:ext cx="2724911" cy="4160519"/>
          </a:xfrm>
          <a:prstGeom prst="roundRect">
            <a:avLst>
              <a:gd name="adj" fmla="val 3356"/>
            </a:avLst>
          </a:prstGeom>
          <a:solidFill>
            <a:srgbClr val="F2F8F7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7189957" name="Shape 3"/>
          <p:cNvSpPr/>
          <p:nvPr/>
        </p:nvSpPr>
        <p:spPr bwMode="auto">
          <a:xfrm>
            <a:off x="731520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7985391" name="Text 4"/>
          <p:cNvSpPr/>
          <p:nvPr/>
        </p:nvSpPr>
        <p:spPr bwMode="auto">
          <a:xfrm>
            <a:off x="73152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400"/>
          </a:p>
        </p:txBody>
      </p:sp>
      <p:sp>
        <p:nvSpPr>
          <p:cNvPr id="1498334141" name="Text 5"/>
          <p:cNvSpPr/>
          <p:nvPr/>
        </p:nvSpPr>
        <p:spPr bwMode="auto">
          <a:xfrm>
            <a:off x="1280160" y="189280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Weeks 1–2</a:t>
            </a:r>
            <a:endParaRPr lang="en-US" sz="1000"/>
          </a:p>
        </p:txBody>
      </p:sp>
      <p:sp>
        <p:nvSpPr>
          <p:cNvPr id="1873665801" name="Text 6"/>
          <p:cNvSpPr/>
          <p:nvPr/>
        </p:nvSpPr>
        <p:spPr bwMode="auto">
          <a:xfrm>
            <a:off x="731520" y="246888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Foundation</a:t>
            </a:r>
            <a:endParaRPr lang="en-US" sz="1500"/>
          </a:p>
        </p:txBody>
      </p:sp>
      <p:sp>
        <p:nvSpPr>
          <p:cNvPr id="339020200" name="Text 7"/>
          <p:cNvSpPr/>
          <p:nvPr/>
        </p:nvSpPr>
        <p:spPr bwMode="auto">
          <a:xfrm>
            <a:off x="731520" y="3017519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Monorepo + Prisma schema + Express boilerplate, JWT auth, Deck/Card CRUD.</a:t>
            </a:r>
            <a:endParaRPr lang="en-US" sz="1050"/>
          </a:p>
        </p:txBody>
      </p:sp>
      <p:sp>
        <p:nvSpPr>
          <p:cNvPr id="811966519" name="Shape 8"/>
          <p:cNvSpPr/>
          <p:nvPr/>
        </p:nvSpPr>
        <p:spPr bwMode="auto">
          <a:xfrm>
            <a:off x="731520" y="4572000"/>
            <a:ext cx="2359152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2718272" name="Text 9"/>
          <p:cNvSpPr/>
          <p:nvPr/>
        </p:nvSpPr>
        <p:spPr bwMode="auto">
          <a:xfrm>
            <a:off x="731520" y="4709160"/>
            <a:ext cx="2359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DELIVERABLE</a:t>
            </a:r>
            <a:endParaRPr lang="en-US" sz="850"/>
          </a:p>
        </p:txBody>
      </p:sp>
      <p:sp>
        <p:nvSpPr>
          <p:cNvPr id="1471517099" name="Text 10"/>
          <p:cNvSpPr/>
          <p:nvPr/>
        </p:nvSpPr>
        <p:spPr bwMode="auto">
          <a:xfrm>
            <a:off x="731520" y="4937760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Users can create decks and add cards manually.</a:t>
            </a:r>
            <a:endParaRPr lang="en-US" sz="1000"/>
          </a:p>
        </p:txBody>
      </p:sp>
      <p:sp>
        <p:nvSpPr>
          <p:cNvPr id="1901353399" name="Shape 11"/>
          <p:cNvSpPr/>
          <p:nvPr/>
        </p:nvSpPr>
        <p:spPr bwMode="auto">
          <a:xfrm>
            <a:off x="3383280" y="1691640"/>
            <a:ext cx="2724911" cy="4160519"/>
          </a:xfrm>
          <a:prstGeom prst="roundRect">
            <a:avLst>
              <a:gd name="adj" fmla="val 3356"/>
            </a:avLst>
          </a:prstGeom>
          <a:solidFill>
            <a:srgbClr val="F2F8F7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3885402" name="Shape 12"/>
          <p:cNvSpPr/>
          <p:nvPr/>
        </p:nvSpPr>
        <p:spPr bwMode="auto">
          <a:xfrm>
            <a:off x="3566160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3132421" name="Text 13"/>
          <p:cNvSpPr/>
          <p:nvPr/>
        </p:nvSpPr>
        <p:spPr bwMode="auto">
          <a:xfrm>
            <a:off x="356616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400"/>
          </a:p>
        </p:txBody>
      </p:sp>
      <p:sp>
        <p:nvSpPr>
          <p:cNvPr id="1076974945" name="Text 14"/>
          <p:cNvSpPr/>
          <p:nvPr/>
        </p:nvSpPr>
        <p:spPr bwMode="auto">
          <a:xfrm>
            <a:off x="4114800" y="189280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Weeks 3–4</a:t>
            </a:r>
            <a:endParaRPr lang="en-US" sz="1000"/>
          </a:p>
        </p:txBody>
      </p:sp>
      <p:sp>
        <p:nvSpPr>
          <p:cNvPr id="1691569675" name="Text 15"/>
          <p:cNvSpPr/>
          <p:nvPr/>
        </p:nvSpPr>
        <p:spPr bwMode="auto">
          <a:xfrm>
            <a:off x="3566160" y="246888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Core Study Engine</a:t>
            </a:r>
            <a:endParaRPr lang="en-US" sz="1500"/>
          </a:p>
        </p:txBody>
      </p:sp>
      <p:sp>
        <p:nvSpPr>
          <p:cNvPr id="431656027" name="Text 16"/>
          <p:cNvSpPr/>
          <p:nvPr/>
        </p:nvSpPr>
        <p:spPr bwMode="auto">
          <a:xfrm>
            <a:off x="3566160" y="3017519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Integrate ts-fsrs, build /study/due and /study/review, ship the React study session.</a:t>
            </a:r>
            <a:endParaRPr lang="en-US" sz="1050"/>
          </a:p>
        </p:txBody>
      </p:sp>
      <p:sp>
        <p:nvSpPr>
          <p:cNvPr id="877628202" name="Shape 17"/>
          <p:cNvSpPr/>
          <p:nvPr/>
        </p:nvSpPr>
        <p:spPr bwMode="auto">
          <a:xfrm>
            <a:off x="3566160" y="4572000"/>
            <a:ext cx="2359152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2281071" name="Text 18"/>
          <p:cNvSpPr/>
          <p:nvPr/>
        </p:nvSpPr>
        <p:spPr bwMode="auto">
          <a:xfrm>
            <a:off x="3566160" y="4709160"/>
            <a:ext cx="2359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DELIVERABLE</a:t>
            </a:r>
            <a:endParaRPr lang="en-US" sz="850"/>
          </a:p>
        </p:txBody>
      </p:sp>
      <p:sp>
        <p:nvSpPr>
          <p:cNvPr id="1617730870" name="Text 19"/>
          <p:cNvSpPr/>
          <p:nvPr/>
        </p:nvSpPr>
        <p:spPr bwMode="auto">
          <a:xfrm>
            <a:off x="3566160" y="4937760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V1 complete — studying works and dates update automatically.</a:t>
            </a:r>
            <a:endParaRPr lang="en-US" sz="1000"/>
          </a:p>
        </p:txBody>
      </p:sp>
      <p:sp>
        <p:nvSpPr>
          <p:cNvPr id="1405053620" name="Shape 20"/>
          <p:cNvSpPr/>
          <p:nvPr/>
        </p:nvSpPr>
        <p:spPr bwMode="auto">
          <a:xfrm>
            <a:off x="6217920" y="1691640"/>
            <a:ext cx="2724911" cy="4160519"/>
          </a:xfrm>
          <a:prstGeom prst="roundRect">
            <a:avLst>
              <a:gd name="adj" fmla="val 3356"/>
            </a:avLst>
          </a:prstGeom>
          <a:solidFill>
            <a:srgbClr val="F2F8F7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492321" name="Shape 21"/>
          <p:cNvSpPr/>
          <p:nvPr/>
        </p:nvSpPr>
        <p:spPr bwMode="auto">
          <a:xfrm>
            <a:off x="6400800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9253913" name="Text 22"/>
          <p:cNvSpPr/>
          <p:nvPr/>
        </p:nvSpPr>
        <p:spPr bwMode="auto">
          <a:xfrm>
            <a:off x="640080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400"/>
          </a:p>
        </p:txBody>
      </p:sp>
      <p:sp>
        <p:nvSpPr>
          <p:cNvPr id="1372730092" name="Text 23"/>
          <p:cNvSpPr/>
          <p:nvPr/>
        </p:nvSpPr>
        <p:spPr bwMode="auto">
          <a:xfrm>
            <a:off x="6949440" y="189280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Weeks 5–6</a:t>
            </a:r>
            <a:endParaRPr lang="en-US" sz="1000"/>
          </a:p>
        </p:txBody>
      </p:sp>
      <p:sp>
        <p:nvSpPr>
          <p:cNvPr id="773481840" name="Text 24"/>
          <p:cNvSpPr/>
          <p:nvPr/>
        </p:nvSpPr>
        <p:spPr bwMode="auto">
          <a:xfrm>
            <a:off x="6400800" y="246888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Polish &amp; Analytics</a:t>
            </a:r>
            <a:endParaRPr lang="en-US" sz="1500"/>
          </a:p>
        </p:txBody>
      </p:sp>
      <p:sp>
        <p:nvSpPr>
          <p:cNvPr id="106986672" name="Text 25"/>
          <p:cNvSpPr/>
          <p:nvPr/>
        </p:nvSpPr>
        <p:spPr bwMode="auto">
          <a:xfrm>
            <a:off x="6400800" y="3017519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CSV/JSON import-export, Recharts dashboard, full regression pass.</a:t>
            </a:r>
            <a:endParaRPr lang="en-US" sz="1050"/>
          </a:p>
        </p:txBody>
      </p:sp>
      <p:sp>
        <p:nvSpPr>
          <p:cNvPr id="2071483583" name="Shape 26"/>
          <p:cNvSpPr/>
          <p:nvPr/>
        </p:nvSpPr>
        <p:spPr bwMode="auto">
          <a:xfrm>
            <a:off x="6400800" y="4572000"/>
            <a:ext cx="2359152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207800" name="Text 27"/>
          <p:cNvSpPr/>
          <p:nvPr/>
        </p:nvSpPr>
        <p:spPr bwMode="auto">
          <a:xfrm>
            <a:off x="6400800" y="4709160"/>
            <a:ext cx="2359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DELIVERABLE</a:t>
            </a:r>
            <a:endParaRPr lang="en-US" sz="850"/>
          </a:p>
        </p:txBody>
      </p:sp>
      <p:sp>
        <p:nvSpPr>
          <p:cNvPr id="447317101" name="Text 28"/>
          <p:cNvSpPr/>
          <p:nvPr/>
        </p:nvSpPr>
        <p:spPr bwMode="auto">
          <a:xfrm>
            <a:off x="6400800" y="4937760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V1 Final Release.</a:t>
            </a:r>
            <a:endParaRPr lang="en-US" sz="1000"/>
          </a:p>
        </p:txBody>
      </p:sp>
      <p:sp>
        <p:nvSpPr>
          <p:cNvPr id="1757573105" name="Shape 29"/>
          <p:cNvSpPr/>
          <p:nvPr/>
        </p:nvSpPr>
        <p:spPr bwMode="auto">
          <a:xfrm>
            <a:off x="9052560" y="1691640"/>
            <a:ext cx="2724911" cy="4160519"/>
          </a:xfrm>
          <a:prstGeom prst="roundRect">
            <a:avLst>
              <a:gd name="adj" fmla="val 3356"/>
            </a:avLst>
          </a:prstGeom>
          <a:solidFill>
            <a:srgbClr val="0B3B3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3045627" name="Shape 30"/>
          <p:cNvSpPr/>
          <p:nvPr/>
        </p:nvSpPr>
        <p:spPr bwMode="auto">
          <a:xfrm>
            <a:off x="9235440" y="18928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0653659" name="Text 31"/>
          <p:cNvSpPr/>
          <p:nvPr/>
        </p:nvSpPr>
        <p:spPr bwMode="auto">
          <a:xfrm>
            <a:off x="923544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400"/>
          </a:p>
        </p:txBody>
      </p:sp>
      <p:sp>
        <p:nvSpPr>
          <p:cNvPr id="124902533" name="Text 32"/>
          <p:cNvSpPr/>
          <p:nvPr/>
        </p:nvSpPr>
        <p:spPr bwMode="auto">
          <a:xfrm>
            <a:off x="9784079" y="189280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CFE8E5"/>
                </a:solidFill>
                <a:latin typeface="Calibri"/>
                <a:ea typeface="Calibri"/>
                <a:cs typeface="Calibri"/>
              </a:rPr>
              <a:t>Weeks 7–8</a:t>
            </a:r>
            <a:endParaRPr lang="en-US" sz="1000"/>
          </a:p>
        </p:txBody>
      </p:sp>
      <p:sp>
        <p:nvSpPr>
          <p:cNvPr id="275777469" name="Text 33"/>
          <p:cNvSpPr/>
          <p:nvPr/>
        </p:nvSpPr>
        <p:spPr bwMode="auto">
          <a:xfrm>
            <a:off x="9235440" y="246888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Features (V2)</a:t>
            </a:r>
            <a:endParaRPr lang="en-US" sz="1500"/>
          </a:p>
        </p:txBody>
      </p:sp>
      <p:sp>
        <p:nvSpPr>
          <p:cNvPr id="2011343239" name="Text 34"/>
          <p:cNvSpPr/>
          <p:nvPr/>
        </p:nvSpPr>
        <p:spPr bwMode="auto">
          <a:xfrm>
            <a:off x="9235440" y="3017519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CFE8E5"/>
                </a:solidFill>
                <a:latin typeface="Calibri"/>
                <a:ea typeface="Calibri"/>
                <a:cs typeface="Calibri"/>
              </a:rPr>
              <a:t>Weak-deck recommendations; LLM integration to generate cards from text.</a:t>
            </a:r>
            <a:endParaRPr lang="en-US" sz="1050"/>
          </a:p>
        </p:txBody>
      </p:sp>
      <p:sp>
        <p:nvSpPr>
          <p:cNvPr id="19171200" name="Shape 35"/>
          <p:cNvSpPr/>
          <p:nvPr/>
        </p:nvSpPr>
        <p:spPr bwMode="auto">
          <a:xfrm>
            <a:off x="9235440" y="4572000"/>
            <a:ext cx="2359152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0847986" name="Text 36"/>
          <p:cNvSpPr/>
          <p:nvPr/>
        </p:nvSpPr>
        <p:spPr bwMode="auto">
          <a:xfrm>
            <a:off x="9235440" y="4709160"/>
            <a:ext cx="2359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DELIVERABLE</a:t>
            </a:r>
            <a:endParaRPr lang="en-US" sz="850"/>
          </a:p>
        </p:txBody>
      </p:sp>
      <p:sp>
        <p:nvSpPr>
          <p:cNvPr id="1288064326" name="Text 37"/>
          <p:cNvSpPr/>
          <p:nvPr/>
        </p:nvSpPr>
        <p:spPr bwMode="auto">
          <a:xfrm>
            <a:off x="9235440" y="4937760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CFE8E5"/>
                </a:solidFill>
                <a:latin typeface="Calibri"/>
                <a:ea typeface="Calibri"/>
                <a:cs typeface="Calibri"/>
              </a:rPr>
              <a:t>V2 Release with smart suggestions and AI assistance.</a:t>
            </a:r>
            <a:endParaRPr lang="en-US" sz="1000"/>
          </a:p>
        </p:txBody>
      </p:sp>
      <p:sp>
        <p:nvSpPr>
          <p:cNvPr id="1120386648" name="Text 38"/>
          <p:cNvSpPr/>
          <p:nvPr/>
        </p:nvSpPr>
        <p:spPr bwMode="auto"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4 — Development Roadmap</a:t>
            </a:r>
            <a:endParaRPr lang="en-US" sz="1000"/>
          </a:p>
        </p:txBody>
      </p:sp>
      <p:sp>
        <p:nvSpPr>
          <p:cNvPr id="618494716" name="Text 39"/>
          <p:cNvSpPr/>
          <p:nvPr/>
        </p:nvSpPr>
        <p:spPr bwMode="auto"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EduSpaced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829382" name="Text 0"/>
          <p:cNvSpPr/>
          <p:nvPr/>
        </p:nvSpPr>
        <p:spPr bwMode="auto"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QUALITY</a:t>
            </a:r>
            <a:endParaRPr lang="en-US" sz="1300"/>
          </a:p>
        </p:txBody>
      </p:sp>
      <p:sp>
        <p:nvSpPr>
          <p:cNvPr id="740052" name="Text 1"/>
          <p:cNvSpPr/>
          <p:nvPr/>
        </p:nvSpPr>
        <p:spPr bwMode="auto"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Testing method</a:t>
            </a:r>
            <a:endParaRPr lang="en-US" sz="2700"/>
          </a:p>
        </p:txBody>
      </p:sp>
      <p:sp>
        <p:nvSpPr>
          <p:cNvPr id="1062761998" name="Shape 2"/>
          <p:cNvSpPr/>
          <p:nvPr/>
        </p:nvSpPr>
        <p:spPr bwMode="auto">
          <a:xfrm>
            <a:off x="2286000" y="169164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0B3B3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0905892" name="Text 3"/>
          <p:cNvSpPr/>
          <p:nvPr/>
        </p:nvSpPr>
        <p:spPr bwMode="auto">
          <a:xfrm>
            <a:off x="2286000" y="1801367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E2E</a:t>
            </a:r>
            <a:endParaRPr lang="en-US" sz="1500"/>
          </a:p>
        </p:txBody>
      </p:sp>
      <p:sp>
        <p:nvSpPr>
          <p:cNvPr id="220292362" name="Text 4"/>
          <p:cNvSpPr/>
          <p:nvPr/>
        </p:nvSpPr>
        <p:spPr bwMode="auto">
          <a:xfrm>
            <a:off x="228600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4F4F1"/>
                </a:solidFill>
                <a:latin typeface="Calibri"/>
                <a:ea typeface="Calibri"/>
                <a:cs typeface="Calibri"/>
              </a:rPr>
              <a:t>Playwright</a:t>
            </a:r>
            <a:endParaRPr lang="en-US" sz="1000"/>
          </a:p>
        </p:txBody>
      </p:sp>
      <p:sp>
        <p:nvSpPr>
          <p:cNvPr id="574833018" name="Shape 5"/>
          <p:cNvSpPr/>
          <p:nvPr/>
        </p:nvSpPr>
        <p:spPr bwMode="auto">
          <a:xfrm>
            <a:off x="1645920" y="2926080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2164214" name="Text 6"/>
          <p:cNvSpPr/>
          <p:nvPr/>
        </p:nvSpPr>
        <p:spPr bwMode="auto">
          <a:xfrm>
            <a:off x="1645920" y="30358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Integration</a:t>
            </a:r>
            <a:endParaRPr lang="en-US" sz="1500"/>
          </a:p>
        </p:txBody>
      </p:sp>
      <p:sp>
        <p:nvSpPr>
          <p:cNvPr id="1473014325" name="Text 7"/>
          <p:cNvSpPr/>
          <p:nvPr/>
        </p:nvSpPr>
        <p:spPr bwMode="auto">
          <a:xfrm>
            <a:off x="1645920" y="3429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4F4F1"/>
                </a:solidFill>
                <a:latin typeface="Calibri"/>
                <a:ea typeface="Calibri"/>
                <a:cs typeface="Calibri"/>
              </a:rPr>
              <a:t>Supertest + in-memory SQLite</a:t>
            </a:r>
            <a:endParaRPr lang="en-US" sz="1000"/>
          </a:p>
        </p:txBody>
      </p:sp>
      <p:sp>
        <p:nvSpPr>
          <p:cNvPr id="1133757635" name="Shape 8"/>
          <p:cNvSpPr/>
          <p:nvPr/>
        </p:nvSpPr>
        <p:spPr bwMode="auto">
          <a:xfrm>
            <a:off x="914400" y="4160519"/>
            <a:ext cx="4754880" cy="960120"/>
          </a:xfrm>
          <a:prstGeom prst="roundRect">
            <a:avLst>
              <a:gd name="adj" fmla="val 5714"/>
            </a:avLst>
          </a:prstGeom>
          <a:solidFill>
            <a:srgbClr val="00A896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0081109" name="Text 9"/>
          <p:cNvSpPr/>
          <p:nvPr/>
        </p:nvSpPr>
        <p:spPr bwMode="auto">
          <a:xfrm>
            <a:off x="914400" y="42702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Unit</a:t>
            </a:r>
            <a:endParaRPr lang="en-US" sz="1500"/>
          </a:p>
        </p:txBody>
      </p:sp>
      <p:sp>
        <p:nvSpPr>
          <p:cNvPr id="1124187601" name="Text 10"/>
          <p:cNvSpPr/>
          <p:nvPr/>
        </p:nvSpPr>
        <p:spPr bwMode="auto">
          <a:xfrm>
            <a:off x="914400" y="4663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4F4F1"/>
                </a:solidFill>
                <a:latin typeface="Calibri"/>
                <a:ea typeface="Calibri"/>
                <a:cs typeface="Calibri"/>
              </a:rPr>
              <a:t>Jest / Vitest</a:t>
            </a:r>
            <a:endParaRPr lang="en-US" sz="1000"/>
          </a:p>
        </p:txBody>
      </p:sp>
      <p:sp>
        <p:nvSpPr>
          <p:cNvPr id="1746172308" name="Shape 11"/>
          <p:cNvSpPr/>
          <p:nvPr/>
        </p:nvSpPr>
        <p:spPr bwMode="auto">
          <a:xfrm>
            <a:off x="5943600" y="1920240"/>
            <a:ext cx="128016" cy="128016"/>
          </a:xfrm>
          <a:prstGeom prst="ellipse">
            <a:avLst/>
          </a:prstGeom>
          <a:solidFill>
            <a:srgbClr val="0B3B3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1219922" name="Text 12"/>
          <p:cNvSpPr/>
          <p:nvPr/>
        </p:nvSpPr>
        <p:spPr bwMode="auto">
          <a:xfrm>
            <a:off x="6217920" y="16916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3B3F"/>
                </a:solidFill>
                <a:latin typeface="Calibri"/>
                <a:ea typeface="Calibri"/>
                <a:cs typeface="Calibri"/>
              </a:rPr>
              <a:t>E2E tests</a:t>
            </a:r>
            <a:endParaRPr lang="en-US" sz="1300"/>
          </a:p>
        </p:txBody>
      </p:sp>
      <p:sp>
        <p:nvSpPr>
          <p:cNvPr id="24735643" name="Text 13"/>
          <p:cNvSpPr/>
          <p:nvPr/>
        </p:nvSpPr>
        <p:spPr bwMode="auto">
          <a:xfrm>
            <a:off x="6217920" y="20116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0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Full user journey: login → create deck → add cards → study → check dashboard.</a:t>
            </a:r>
            <a:endParaRPr lang="en-US" sz="1100"/>
          </a:p>
        </p:txBody>
      </p:sp>
      <p:sp>
        <p:nvSpPr>
          <p:cNvPr id="103952287" name="Shape 14"/>
          <p:cNvSpPr/>
          <p:nvPr/>
        </p:nvSpPr>
        <p:spPr bwMode="auto">
          <a:xfrm>
            <a:off x="5943600" y="3154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6672891" name="Text 15"/>
          <p:cNvSpPr/>
          <p:nvPr/>
        </p:nvSpPr>
        <p:spPr bwMode="auto">
          <a:xfrm>
            <a:off x="6217920" y="29260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3B3F"/>
                </a:solidFill>
                <a:latin typeface="Calibri"/>
                <a:ea typeface="Calibri"/>
                <a:cs typeface="Calibri"/>
              </a:rPr>
              <a:t>Integration tests</a:t>
            </a:r>
            <a:endParaRPr lang="en-US" sz="1300"/>
          </a:p>
        </p:txBody>
      </p:sp>
      <p:sp>
        <p:nvSpPr>
          <p:cNvPr id="275131356" name="Text 16"/>
          <p:cNvSpPr/>
          <p:nvPr/>
        </p:nvSpPr>
        <p:spPr bwMode="auto">
          <a:xfrm>
            <a:off x="6217920" y="32461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0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API endpoints end to end, e.g. create card → start session → rate → verify DB update.</a:t>
            </a:r>
            <a:endParaRPr lang="en-US" sz="1100"/>
          </a:p>
        </p:txBody>
      </p:sp>
      <p:sp>
        <p:nvSpPr>
          <p:cNvPr id="1076462186" name="Shape 17"/>
          <p:cNvSpPr/>
          <p:nvPr/>
        </p:nvSpPr>
        <p:spPr bwMode="auto">
          <a:xfrm>
            <a:off x="5943600" y="43891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159134" name="Text 18"/>
          <p:cNvSpPr/>
          <p:nvPr/>
        </p:nvSpPr>
        <p:spPr bwMode="auto">
          <a:xfrm>
            <a:off x="6217920" y="4160519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3B3F"/>
                </a:solidFill>
                <a:latin typeface="Calibri"/>
                <a:ea typeface="Calibri"/>
                <a:cs typeface="Calibri"/>
              </a:rPr>
              <a:t>Unit tests</a:t>
            </a:r>
            <a:endParaRPr lang="en-US" sz="1300"/>
          </a:p>
        </p:txBody>
      </p:sp>
      <p:sp>
        <p:nvSpPr>
          <p:cNvPr id="2037465281" name="Text 19"/>
          <p:cNvSpPr/>
          <p:nvPr/>
        </p:nvSpPr>
        <p:spPr bwMode="auto">
          <a:xfrm>
            <a:off x="6217920" y="448056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0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StudyService and the SRS engine: a “Hard” rating must produce a sooner next-review date than “Easy.”</a:t>
            </a:r>
            <a:endParaRPr lang="en-US" sz="1100"/>
          </a:p>
        </p:txBody>
      </p:sp>
      <p:sp>
        <p:nvSpPr>
          <p:cNvPr id="1343665969" name="Text 20"/>
          <p:cNvSpPr/>
          <p:nvPr/>
        </p:nvSpPr>
        <p:spPr bwMode="auto"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5 — Testing Strategy</a:t>
            </a:r>
            <a:endParaRPr lang="en-US" sz="1000"/>
          </a:p>
        </p:txBody>
      </p:sp>
      <p:sp>
        <p:nvSpPr>
          <p:cNvPr id="370182733" name="Text 21"/>
          <p:cNvSpPr/>
          <p:nvPr/>
        </p:nvSpPr>
        <p:spPr bwMode="auto"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EduSpaced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697031" name="Text 0"/>
          <p:cNvSpPr/>
          <p:nvPr/>
        </p:nvSpPr>
        <p:spPr bwMode="auto"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RISK MANAGEMENT</a:t>
            </a:r>
            <a:endParaRPr lang="en-US" sz="1300"/>
          </a:p>
        </p:txBody>
      </p:sp>
      <p:sp>
        <p:nvSpPr>
          <p:cNvPr id="500402725" name="Text 1"/>
          <p:cNvSpPr/>
          <p:nvPr/>
        </p:nvSpPr>
        <p:spPr bwMode="auto"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Known risk</a:t>
            </a:r>
            <a:endParaRPr lang="en-US" sz="2700"/>
          </a:p>
        </p:txBody>
      </p:sp>
      <p:sp>
        <p:nvSpPr>
          <p:cNvPr id="2067655090" name="Shape 2"/>
          <p:cNvSpPr/>
          <p:nvPr/>
        </p:nvSpPr>
        <p:spPr bwMode="auto">
          <a:xfrm>
            <a:off x="548640" y="16916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FDEEEC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4623102" name="Shape 3"/>
          <p:cNvSpPr/>
          <p:nvPr/>
        </p:nvSpPr>
        <p:spPr bwMode="auto">
          <a:xfrm>
            <a:off x="548640" y="1691640"/>
            <a:ext cx="2542032" cy="91440"/>
          </a:xfrm>
          <a:prstGeom prst="roundRect">
            <a:avLst>
              <a:gd name="adj" fmla="val 16667"/>
            </a:avLst>
          </a:prstGeom>
          <a:solidFill>
            <a:srgbClr val="C8553D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0830951" name="Text 4"/>
          <p:cNvSpPr/>
          <p:nvPr/>
        </p:nvSpPr>
        <p:spPr bwMode="auto">
          <a:xfrm>
            <a:off x="731520" y="196596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FSRS complexity</a:t>
            </a:r>
            <a:endParaRPr lang="en-US" sz="1500"/>
          </a:p>
        </p:txBody>
      </p:sp>
      <p:sp>
        <p:nvSpPr>
          <p:cNvPr id="1406875724" name="Text 5"/>
          <p:cNvSpPr/>
          <p:nvPr/>
        </p:nvSpPr>
        <p:spPr bwMode="auto">
          <a:xfrm>
            <a:off x="731520" y="274320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C8553D"/>
                </a:solidFill>
                <a:latin typeface="Calibri"/>
                <a:ea typeface="Calibri"/>
                <a:cs typeface="Calibri"/>
              </a:rPr>
              <a:t>IMPACT</a:t>
            </a:r>
            <a:endParaRPr lang="en-US" sz="850"/>
          </a:p>
        </p:txBody>
      </p:sp>
      <p:sp>
        <p:nvSpPr>
          <p:cNvPr id="793749280" name="Text 6"/>
          <p:cNvSpPr/>
          <p:nvPr/>
        </p:nvSpPr>
        <p:spPr bwMode="auto">
          <a:xfrm>
            <a:off x="731520" y="2971800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Buggy scheduling gives users bad review dates.</a:t>
            </a:r>
            <a:endParaRPr lang="en-US" sz="1000"/>
          </a:p>
        </p:txBody>
      </p:sp>
      <p:sp>
        <p:nvSpPr>
          <p:cNvPr id="406064686" name="Text 7"/>
          <p:cNvSpPr/>
          <p:nvPr/>
        </p:nvSpPr>
        <p:spPr bwMode="auto">
          <a:xfrm>
            <a:off x="731520" y="384048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MITIGATION</a:t>
            </a:r>
            <a:endParaRPr lang="en-US" sz="850"/>
          </a:p>
        </p:txBody>
      </p:sp>
      <p:sp>
        <p:nvSpPr>
          <p:cNvPr id="1542978338" name="Text 8"/>
          <p:cNvSpPr/>
          <p:nvPr/>
        </p:nvSpPr>
        <p:spPr bwMode="auto">
          <a:xfrm>
            <a:off x="731520" y="406908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Dedicated unit tests for the ts-fsrs wrapper, covering new and very old cards.</a:t>
            </a:r>
            <a:endParaRPr lang="en-US" sz="1000"/>
          </a:p>
        </p:txBody>
      </p:sp>
      <p:sp>
        <p:nvSpPr>
          <p:cNvPr id="100014770" name="Shape 9"/>
          <p:cNvSpPr/>
          <p:nvPr/>
        </p:nvSpPr>
        <p:spPr bwMode="auto">
          <a:xfrm>
            <a:off x="3255264" y="16916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FDEEEC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3283823" name="Shape 10"/>
          <p:cNvSpPr/>
          <p:nvPr/>
        </p:nvSpPr>
        <p:spPr bwMode="auto">
          <a:xfrm>
            <a:off x="3255264" y="1691640"/>
            <a:ext cx="2542032" cy="91440"/>
          </a:xfrm>
          <a:prstGeom prst="roundRect">
            <a:avLst>
              <a:gd name="adj" fmla="val 16667"/>
            </a:avLst>
          </a:prstGeom>
          <a:solidFill>
            <a:srgbClr val="C8553D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2693681" name="Text 11"/>
          <p:cNvSpPr/>
          <p:nvPr/>
        </p:nvSpPr>
        <p:spPr bwMode="auto">
          <a:xfrm>
            <a:off x="3438144" y="196596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Client/server state sync</a:t>
            </a:r>
            <a:endParaRPr lang="en-US" sz="1500"/>
          </a:p>
        </p:txBody>
      </p:sp>
      <p:sp>
        <p:nvSpPr>
          <p:cNvPr id="245088376" name="Text 12"/>
          <p:cNvSpPr/>
          <p:nvPr/>
        </p:nvSpPr>
        <p:spPr bwMode="auto">
          <a:xfrm>
            <a:off x="3438144" y="274320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C8553D"/>
                </a:solidFill>
                <a:latin typeface="Calibri"/>
                <a:ea typeface="Calibri"/>
                <a:cs typeface="Calibri"/>
              </a:rPr>
              <a:t>IMPACT</a:t>
            </a:r>
            <a:endParaRPr lang="en-US" sz="850"/>
          </a:p>
        </p:txBody>
      </p:sp>
      <p:sp>
        <p:nvSpPr>
          <p:cNvPr id="1733841428" name="Text 13"/>
          <p:cNvSpPr/>
          <p:nvPr/>
        </p:nvSpPr>
        <p:spPr bwMode="auto">
          <a:xfrm>
            <a:off x="3438144" y="2971800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Study session state drifts during a session.</a:t>
            </a:r>
            <a:endParaRPr lang="en-US" sz="1000"/>
          </a:p>
        </p:txBody>
      </p:sp>
      <p:sp>
        <p:nvSpPr>
          <p:cNvPr id="547673195" name="Text 14"/>
          <p:cNvSpPr/>
          <p:nvPr/>
        </p:nvSpPr>
        <p:spPr bwMode="auto">
          <a:xfrm>
            <a:off x="3438144" y="384048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MITIGATION</a:t>
            </a:r>
            <a:endParaRPr lang="en-US" sz="850"/>
          </a:p>
        </p:txBody>
      </p:sp>
      <p:sp>
        <p:nvSpPr>
          <p:cNvPr id="1227136278" name="Text 15"/>
          <p:cNvSpPr/>
          <p:nvPr/>
        </p:nvSpPr>
        <p:spPr bwMode="auto">
          <a:xfrm>
            <a:off x="3438144" y="406908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Optimistic UI updates that revert on failure; server cache cleared between reviews.</a:t>
            </a:r>
            <a:endParaRPr lang="en-US" sz="1000"/>
          </a:p>
        </p:txBody>
      </p:sp>
      <p:sp>
        <p:nvSpPr>
          <p:cNvPr id="1058423143" name="Shape 16"/>
          <p:cNvSpPr/>
          <p:nvPr/>
        </p:nvSpPr>
        <p:spPr bwMode="auto">
          <a:xfrm>
            <a:off x="5961888" y="16916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FDEEEC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7761458" name="Shape 17"/>
          <p:cNvSpPr/>
          <p:nvPr/>
        </p:nvSpPr>
        <p:spPr bwMode="auto">
          <a:xfrm>
            <a:off x="5961888" y="1691640"/>
            <a:ext cx="2542032" cy="91440"/>
          </a:xfrm>
          <a:prstGeom prst="roundRect">
            <a:avLst>
              <a:gd name="adj" fmla="val 16667"/>
            </a:avLst>
          </a:prstGeom>
          <a:solidFill>
            <a:srgbClr val="C8553D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449019" name="Text 18"/>
          <p:cNvSpPr/>
          <p:nvPr/>
        </p:nvSpPr>
        <p:spPr bwMode="auto">
          <a:xfrm>
            <a:off x="6144768" y="196596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Database performance</a:t>
            </a:r>
            <a:endParaRPr lang="en-US" sz="1500"/>
          </a:p>
        </p:txBody>
      </p:sp>
      <p:sp>
        <p:nvSpPr>
          <p:cNvPr id="1319406216" name="Text 19"/>
          <p:cNvSpPr/>
          <p:nvPr/>
        </p:nvSpPr>
        <p:spPr bwMode="auto">
          <a:xfrm>
            <a:off x="6144768" y="274320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C8553D"/>
                </a:solidFill>
                <a:latin typeface="Calibri"/>
                <a:ea typeface="Calibri"/>
                <a:cs typeface="Calibri"/>
              </a:rPr>
              <a:t>IMPACT</a:t>
            </a:r>
            <a:endParaRPr lang="en-US" sz="850"/>
          </a:p>
        </p:txBody>
      </p:sp>
      <p:sp>
        <p:nvSpPr>
          <p:cNvPr id="1631225585" name="Text 20"/>
          <p:cNvSpPr/>
          <p:nvPr/>
        </p:nvSpPr>
        <p:spPr bwMode="auto">
          <a:xfrm>
            <a:off x="6144768" y="2971800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SQLite can lock up under concurrent writes.</a:t>
            </a:r>
            <a:endParaRPr lang="en-US" sz="1000"/>
          </a:p>
        </p:txBody>
      </p:sp>
      <p:sp>
        <p:nvSpPr>
          <p:cNvPr id="1085075746" name="Text 21"/>
          <p:cNvSpPr/>
          <p:nvPr/>
        </p:nvSpPr>
        <p:spPr bwMode="auto">
          <a:xfrm>
            <a:off x="6144768" y="384048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MITIGATION</a:t>
            </a:r>
            <a:endParaRPr lang="en-US" sz="850"/>
          </a:p>
        </p:txBody>
      </p:sp>
      <p:sp>
        <p:nvSpPr>
          <p:cNvPr id="319771668" name="Text 22"/>
          <p:cNvSpPr/>
          <p:nvPr/>
        </p:nvSpPr>
        <p:spPr bwMode="auto">
          <a:xfrm>
            <a:off x="6144768" y="406908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Use better-sqlite3 for synchronous access; queue writes if needed.</a:t>
            </a:r>
            <a:endParaRPr lang="en-US" sz="1000"/>
          </a:p>
        </p:txBody>
      </p:sp>
      <p:sp>
        <p:nvSpPr>
          <p:cNvPr id="371011350" name="Shape 23"/>
          <p:cNvSpPr/>
          <p:nvPr/>
        </p:nvSpPr>
        <p:spPr bwMode="auto">
          <a:xfrm>
            <a:off x="8668512" y="16916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FDEEEC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5947827" name="Shape 24"/>
          <p:cNvSpPr/>
          <p:nvPr/>
        </p:nvSpPr>
        <p:spPr bwMode="auto">
          <a:xfrm>
            <a:off x="8668512" y="1691640"/>
            <a:ext cx="2542032" cy="91440"/>
          </a:xfrm>
          <a:prstGeom prst="roundRect">
            <a:avLst>
              <a:gd name="adj" fmla="val 16667"/>
            </a:avLst>
          </a:prstGeom>
          <a:solidFill>
            <a:srgbClr val="C8553D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6239979" name="Text 25"/>
          <p:cNvSpPr/>
          <p:nvPr/>
        </p:nvSpPr>
        <p:spPr bwMode="auto">
          <a:xfrm>
            <a:off x="8851392" y="196596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Scope creep</a:t>
            </a:r>
            <a:endParaRPr lang="en-US" sz="1500"/>
          </a:p>
        </p:txBody>
      </p:sp>
      <p:sp>
        <p:nvSpPr>
          <p:cNvPr id="1981140958" name="Text 26"/>
          <p:cNvSpPr/>
          <p:nvPr/>
        </p:nvSpPr>
        <p:spPr bwMode="auto">
          <a:xfrm>
            <a:off x="8851392" y="274320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C8553D"/>
                </a:solidFill>
                <a:latin typeface="Calibri"/>
                <a:ea typeface="Calibri"/>
                <a:cs typeface="Calibri"/>
              </a:rPr>
              <a:t>IMPACT</a:t>
            </a:r>
            <a:endParaRPr lang="en-US" sz="850"/>
          </a:p>
        </p:txBody>
      </p:sp>
      <p:sp>
        <p:nvSpPr>
          <p:cNvPr id="1115656054" name="Text 27"/>
          <p:cNvSpPr/>
          <p:nvPr/>
        </p:nvSpPr>
        <p:spPr bwMode="auto">
          <a:xfrm>
            <a:off x="8851392" y="2971800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V2 features stretch out and delay V1.</a:t>
            </a:r>
            <a:endParaRPr lang="en-US" sz="1000"/>
          </a:p>
        </p:txBody>
      </p:sp>
      <p:sp>
        <p:nvSpPr>
          <p:cNvPr id="822247716" name="Text 28"/>
          <p:cNvSpPr/>
          <p:nvPr/>
        </p:nvSpPr>
        <p:spPr bwMode="auto">
          <a:xfrm>
            <a:off x="8851392" y="384048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MITIGATION</a:t>
            </a:r>
            <a:endParaRPr lang="en-US" sz="850"/>
          </a:p>
        </p:txBody>
      </p:sp>
      <p:sp>
        <p:nvSpPr>
          <p:cNvPr id="922550952" name="Text 29"/>
          <p:cNvSpPr/>
          <p:nvPr/>
        </p:nvSpPr>
        <p:spPr bwMode="auto">
          <a:xfrm>
            <a:off x="8851392" y="406908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Strict V1/V2 branch separation — V1 must ship before V2 work begins.</a:t>
            </a:r>
            <a:endParaRPr lang="en-US" sz="1000"/>
          </a:p>
        </p:txBody>
      </p:sp>
      <p:sp>
        <p:nvSpPr>
          <p:cNvPr id="624049515" name="Text 30"/>
          <p:cNvSpPr/>
          <p:nvPr/>
        </p:nvSpPr>
        <p:spPr bwMode="auto"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6 — Risk Management</a:t>
            </a:r>
            <a:endParaRPr lang="en-US" sz="1000"/>
          </a:p>
        </p:txBody>
      </p:sp>
      <p:sp>
        <p:nvSpPr>
          <p:cNvPr id="350444061" name="Text 31"/>
          <p:cNvSpPr/>
          <p:nvPr/>
        </p:nvSpPr>
        <p:spPr bwMode="auto"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EduSpaced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846639" name="Text 0"/>
          <p:cNvSpPr/>
          <p:nvPr/>
        </p:nvSpPr>
        <p:spPr bwMode="auto"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CI/CD &amp; DEVOPS</a:t>
            </a:r>
            <a:endParaRPr lang="en-US" sz="1300"/>
          </a:p>
        </p:txBody>
      </p:sp>
      <p:sp>
        <p:nvSpPr>
          <p:cNvPr id="1411244814" name="Text 1"/>
          <p:cNvSpPr/>
          <p:nvPr/>
        </p:nvSpPr>
        <p:spPr bwMode="auto"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Management</a:t>
            </a:r>
            <a:endParaRPr lang="en-US" sz="2700"/>
          </a:p>
        </p:txBody>
      </p:sp>
      <p:sp>
        <p:nvSpPr>
          <p:cNvPr id="853782502" name="Shape 2"/>
          <p:cNvSpPr/>
          <p:nvPr/>
        </p:nvSpPr>
        <p:spPr bwMode="auto">
          <a:xfrm>
            <a:off x="548640" y="192024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2F8F7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9691323" name="Shape 3"/>
          <p:cNvSpPr/>
          <p:nvPr/>
        </p:nvSpPr>
        <p:spPr bwMode="auto">
          <a:xfrm>
            <a:off x="73152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9394759" name="Text 4"/>
          <p:cNvSpPr/>
          <p:nvPr/>
        </p:nvSpPr>
        <p:spPr bwMode="auto"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400"/>
          </a:p>
        </p:txBody>
      </p:sp>
      <p:sp>
        <p:nvSpPr>
          <p:cNvPr id="2117999419" name="Text 5"/>
          <p:cNvSpPr/>
          <p:nvPr/>
        </p:nvSpPr>
        <p:spPr bwMode="auto">
          <a:xfrm>
            <a:off x="731520" y="269748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Push to any branch</a:t>
            </a:r>
            <a:endParaRPr lang="en-US" sz="1400"/>
          </a:p>
        </p:txBody>
      </p:sp>
      <p:sp>
        <p:nvSpPr>
          <p:cNvPr id="1812803054" name="Text 6"/>
          <p:cNvSpPr/>
          <p:nvPr/>
        </p:nvSpPr>
        <p:spPr bwMode="auto">
          <a:xfrm>
            <a:off x="731520" y="329184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GitHub Actions runs ESLint, Prettier, and unit tests automatically.</a:t>
            </a:r>
            <a:endParaRPr lang="en-US" sz="1050"/>
          </a:p>
        </p:txBody>
      </p:sp>
      <p:sp>
        <p:nvSpPr>
          <p:cNvPr id="906085082" name="Text 7"/>
          <p:cNvSpPr/>
          <p:nvPr/>
        </p:nvSpPr>
        <p:spPr bwMode="auto">
          <a:xfrm>
            <a:off x="3108960" y="26974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000"/>
          </a:p>
        </p:txBody>
      </p:sp>
      <p:sp>
        <p:nvSpPr>
          <p:cNvPr id="706521305" name="Shape 8"/>
          <p:cNvSpPr/>
          <p:nvPr/>
        </p:nvSpPr>
        <p:spPr bwMode="auto">
          <a:xfrm>
            <a:off x="3410712" y="192024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E6F2F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2578299" name="Shape 9"/>
          <p:cNvSpPr/>
          <p:nvPr/>
        </p:nvSpPr>
        <p:spPr bwMode="auto">
          <a:xfrm>
            <a:off x="3593592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3488380" name="Text 10"/>
          <p:cNvSpPr/>
          <p:nvPr/>
        </p:nvSpPr>
        <p:spPr bwMode="auto">
          <a:xfrm>
            <a:off x="359359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400"/>
          </a:p>
        </p:txBody>
      </p:sp>
      <p:sp>
        <p:nvSpPr>
          <p:cNvPr id="901065773" name="Text 11"/>
          <p:cNvSpPr/>
          <p:nvPr/>
        </p:nvSpPr>
        <p:spPr bwMode="auto">
          <a:xfrm>
            <a:off x="3593592" y="269748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Open a PR</a:t>
            </a:r>
            <a:endParaRPr lang="en-US" sz="1400"/>
          </a:p>
        </p:txBody>
      </p:sp>
      <p:sp>
        <p:nvSpPr>
          <p:cNvPr id="1175918901" name="Text 12"/>
          <p:cNvSpPr/>
          <p:nvPr/>
        </p:nvSpPr>
        <p:spPr bwMode="auto">
          <a:xfrm>
            <a:off x="3593592" y="329184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CI status must be green before merge — no broken code lands on main.</a:t>
            </a:r>
            <a:endParaRPr lang="en-US" sz="1050"/>
          </a:p>
        </p:txBody>
      </p:sp>
      <p:sp>
        <p:nvSpPr>
          <p:cNvPr id="975304998" name="Text 13"/>
          <p:cNvSpPr/>
          <p:nvPr/>
        </p:nvSpPr>
        <p:spPr bwMode="auto">
          <a:xfrm>
            <a:off x="5971032" y="26974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000"/>
          </a:p>
        </p:txBody>
      </p:sp>
      <p:sp>
        <p:nvSpPr>
          <p:cNvPr id="1994529361" name="Shape 14"/>
          <p:cNvSpPr/>
          <p:nvPr/>
        </p:nvSpPr>
        <p:spPr bwMode="auto">
          <a:xfrm>
            <a:off x="6272784" y="192024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2F8F7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4246981" name="Shape 15"/>
          <p:cNvSpPr/>
          <p:nvPr/>
        </p:nvSpPr>
        <p:spPr bwMode="auto">
          <a:xfrm>
            <a:off x="6455664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2428374" name="Text 16"/>
          <p:cNvSpPr/>
          <p:nvPr/>
        </p:nvSpPr>
        <p:spPr bwMode="auto">
          <a:xfrm>
            <a:off x="645566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400"/>
          </a:p>
        </p:txBody>
      </p:sp>
      <p:sp>
        <p:nvSpPr>
          <p:cNvPr id="75794906" name="Text 17"/>
          <p:cNvSpPr/>
          <p:nvPr/>
        </p:nvSpPr>
        <p:spPr bwMode="auto">
          <a:xfrm>
            <a:off x="6455664" y="269748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Merge to main</a:t>
            </a:r>
            <a:endParaRPr lang="en-US" sz="1400"/>
          </a:p>
        </p:txBody>
      </p:sp>
      <p:sp>
        <p:nvSpPr>
          <p:cNvPr id="696191652" name="Text 18"/>
          <p:cNvSpPr/>
          <p:nvPr/>
        </p:nvSpPr>
        <p:spPr bwMode="auto">
          <a:xfrm>
            <a:off x="6455664" y="329184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Docker images are built for the client and server.</a:t>
            </a:r>
            <a:endParaRPr lang="en-US" sz="1050"/>
          </a:p>
        </p:txBody>
      </p:sp>
      <p:sp>
        <p:nvSpPr>
          <p:cNvPr id="503588963" name="Text 19"/>
          <p:cNvSpPr/>
          <p:nvPr/>
        </p:nvSpPr>
        <p:spPr bwMode="auto">
          <a:xfrm>
            <a:off x="8833104" y="26974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000"/>
          </a:p>
        </p:txBody>
      </p:sp>
      <p:sp>
        <p:nvSpPr>
          <p:cNvPr id="560914307" name="Shape 20"/>
          <p:cNvSpPr/>
          <p:nvPr/>
        </p:nvSpPr>
        <p:spPr bwMode="auto">
          <a:xfrm>
            <a:off x="9134856" y="192024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E6F2F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5491520" name="Shape 21"/>
          <p:cNvSpPr/>
          <p:nvPr/>
        </p:nvSpPr>
        <p:spPr bwMode="auto">
          <a:xfrm>
            <a:off x="9317736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8889374" name="Text 22"/>
          <p:cNvSpPr/>
          <p:nvPr/>
        </p:nvSpPr>
        <p:spPr bwMode="auto">
          <a:xfrm>
            <a:off x="9317736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400"/>
          </a:p>
        </p:txBody>
      </p:sp>
      <p:sp>
        <p:nvSpPr>
          <p:cNvPr id="879602561" name="Text 23"/>
          <p:cNvSpPr/>
          <p:nvPr/>
        </p:nvSpPr>
        <p:spPr bwMode="auto">
          <a:xfrm>
            <a:off x="9317736" y="269748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B3B3F"/>
                </a:solidFill>
                <a:latin typeface="Cambria"/>
                <a:ea typeface="Cambria"/>
                <a:cs typeface="Cambria"/>
              </a:rPr>
              <a:t>Run locally / deploy</a:t>
            </a:r>
            <a:endParaRPr lang="en-US" sz="1400"/>
          </a:p>
        </p:txBody>
      </p:sp>
      <p:sp>
        <p:nvSpPr>
          <p:cNvPr id="1090169466" name="Text 24"/>
          <p:cNvSpPr/>
          <p:nvPr/>
        </p:nvSpPr>
        <p:spPr bwMode="auto">
          <a:xfrm>
            <a:off x="9317736" y="329184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3A4A4B"/>
                </a:solidFill>
                <a:latin typeface="Calibri"/>
                <a:ea typeface="Calibri"/>
                <a:cs typeface="Calibri"/>
              </a:rPr>
              <a:t>docker-compose runs the full app with SQLite in a consistent environment.</a:t>
            </a:r>
            <a:endParaRPr lang="en-US" sz="1050"/>
          </a:p>
        </p:txBody>
      </p:sp>
      <p:sp>
        <p:nvSpPr>
          <p:cNvPr id="765075214" name="Shape 25"/>
          <p:cNvSpPr/>
          <p:nvPr/>
        </p:nvSpPr>
        <p:spPr bwMode="auto">
          <a:xfrm>
            <a:off x="548640" y="46177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3B3F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1145672" name="Text 26"/>
          <p:cNvSpPr/>
          <p:nvPr/>
        </p:nvSpPr>
        <p:spPr bwMode="auto">
          <a:xfrm>
            <a:off x="82296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DOCKERIZATION - Future</a:t>
            </a:r>
            <a:endParaRPr lang="en-US" sz="1100"/>
          </a:p>
        </p:txBody>
      </p:sp>
      <p:sp>
        <p:nvSpPr>
          <p:cNvPr id="739752928" name="Text 27"/>
          <p:cNvSpPr/>
          <p:nvPr/>
        </p:nvSpPr>
        <p:spPr bwMode="auto">
          <a:xfrm>
            <a:off x="822960" y="510235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FE8E5"/>
                </a:solidFill>
                <a:latin typeface="Calibri"/>
                <a:ea typeface="Calibri"/>
                <a:cs typeface="Calibri"/>
              </a:rPr>
              <a:t>A Dockerfile is maintained for both the server and the client, so the app runs identically on every machine — from a laptop to CI to a demo box.</a:t>
            </a:r>
            <a:endParaRPr lang="en-US" sz="1200"/>
          </a:p>
        </p:txBody>
      </p:sp>
      <p:sp>
        <p:nvSpPr>
          <p:cNvPr id="1134279549" name="Text 28"/>
          <p:cNvSpPr/>
          <p:nvPr/>
        </p:nvSpPr>
        <p:spPr bwMode="auto"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7 — CI/CD &amp; DevOps</a:t>
            </a:r>
            <a:endParaRPr lang="en-US" sz="1000"/>
          </a:p>
        </p:txBody>
      </p:sp>
      <p:sp>
        <p:nvSpPr>
          <p:cNvPr id="783460259" name="Text 29"/>
          <p:cNvSpPr/>
          <p:nvPr/>
        </p:nvSpPr>
        <p:spPr bwMode="auto"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B7C"/>
                </a:solidFill>
                <a:latin typeface="Calibri"/>
                <a:ea typeface="Calibri"/>
                <a:cs typeface="Calibri"/>
              </a:rPr>
              <a:t>EduSpaced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2026-07-14T04:25:38Z</dcterms:created>
  <dcterms:modified xsi:type="dcterms:W3CDTF">2026-07-28T17:48:33Z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2026-07-14T04:32:35Z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9983ae6c-c165-41b7-94c9-d9554d7825d2</vt:lpwstr>
  </property>
  <property fmtid="{D5CDD505-2E9C-101B-9397-08002B2CF9AE}" pid="7" name="MSIP_Label_defa4170-0d19-0005-0004-bc88714345d2_ActionId">
    <vt:lpwstr>77400e57-d724-44eb-a825-03e283d9ce4f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